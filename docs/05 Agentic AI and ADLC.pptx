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62" r:id="rId4"/>
    <p:sldId id="264" r:id="rId5"/>
    <p:sldId id="260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95" r:id="rId15"/>
    <p:sldId id="273" r:id="rId16"/>
    <p:sldId id="286" r:id="rId17"/>
    <p:sldId id="261" r:id="rId18"/>
    <p:sldId id="276" r:id="rId19"/>
    <p:sldId id="287" r:id="rId20"/>
    <p:sldId id="291" r:id="rId21"/>
    <p:sldId id="292" r:id="rId22"/>
    <p:sldId id="288" r:id="rId23"/>
    <p:sldId id="293" r:id="rId24"/>
    <p:sldId id="294" r:id="rId25"/>
    <p:sldId id="289" r:id="rId26"/>
    <p:sldId id="296" r:id="rId27"/>
    <p:sldId id="27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4" d="100"/>
          <a:sy n="84" d="100"/>
        </p:scale>
        <p:origin x="53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536CE-E45A-AADF-17CE-62DCAD60B5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CA8B13-14FB-FC7A-AE8D-0443EF205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9FAD22-9F50-C88D-0933-C106D418B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D7579-5794-CC00-C045-B791FA7AE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AFCF2-0DEB-5B31-B526-62EBC37E0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64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DAFE-2D34-239C-C11E-0D5AB8D34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CBE48-7C5D-6D04-0FBA-FAAF900AF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593B1-9F48-9719-053B-3F5ADE53D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469231-46AC-F57A-D902-8D0F88958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53FE03-8F2E-103E-11D0-A27621A0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434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78430-BCAB-1B0F-AF15-F0E893C43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653EE-F384-CF59-792F-FF41581401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20D31-6CAE-2FB6-153A-B7FF19081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B98F5-8D12-377B-65EF-BC8BE45B7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9027-F24E-A076-D94C-44638BBC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764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7A3F7-DD0E-44ED-4EEB-249AABF7B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C653D-D49D-A4FA-4A90-363F30C233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149514-69B0-9D75-AB75-91B84E81F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F0CED-BEE9-51BC-66AD-2DB565B39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2C858-6BD8-6F6C-18CC-DD61025D4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96E2B-3604-BDC8-E54A-4D85F5C2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1386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02470-824B-4058-2C01-DBE9700C8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100F9-D38B-36A7-7D45-54A621844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7207-1406-713D-69FC-90C0D7191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A808A8-687A-6C13-295A-A029B1E363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4EB28-8FF5-8565-09EB-0291EA601C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C54A18-0C92-2393-045B-6CAF563B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1FF9CC-DC04-60BA-6C96-F30AC957B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5D9D53-A54F-89EC-CCAB-979C254D0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0737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02C45-D1E3-2607-6828-9CCF3A969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5398FC-392A-FDAB-C7AE-E6210BBDA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744E78-47C2-5F62-E4D8-2E5E7FD16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CD9E7-7BAD-60B2-B129-E58DFACE4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7894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D6826F-7C9B-389B-D3BE-3E86EEAEE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A1C3F-136F-9E45-0514-741B20986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1C8C-4DBE-3D21-FAB2-B0DB4A6D8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0227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F5A2E-0099-9832-239F-CA04757EB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FC63F-2D86-A29C-17EC-75FA93EC3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19F38-C99B-AA2D-6575-D974606101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1C0AA0-FA71-3666-DC1C-D1D8732E1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F92665-8BD3-E58B-6F97-5F3F0AEE9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664A6-5CAB-99D8-788D-084B8C74A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3304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57889-AEA8-4506-EEA2-454B0813A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5FF9DB-8691-04E9-6B36-86362522E9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998241-823E-96F4-D240-F61FF2CAA0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B39A56-F6AD-8E3F-E2B7-79D0D078F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A6FDB3-0344-BE41-9AB9-32C3CF269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070EA6-15F8-B839-7E6E-C5576FCE6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1914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A7AAF-EE17-169F-1AB6-E30AED053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700CEB-5076-D9B7-2D28-2017F009BF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B8B1B-89D7-F2B2-62B6-12397E624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E3F9E-F277-4FED-D74A-80D7A5A42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86B7DE-F8D2-63C1-1000-F7956356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7226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DA0CC6-6B5F-7A14-1AF5-214FD7F5B8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A75CF6-B132-E92D-42E9-B6BEF4BAF6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F2626-8B84-38A1-4301-6C45FB0C6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D5142-E250-53BE-3BE7-1F85F5F0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54A1F-596C-82D3-CF4F-46032471E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64566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412CF-0A97-D6E9-08A7-94B404CA02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EF4C72-1FF5-95FF-2EF5-016E4E776A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A4C1B-20B9-D303-48D5-5152F3EC9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650320-3EA4-D740-5867-EAF5C6D9F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17687-1800-6FBB-6366-35F680C7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426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45846-BF1A-FDA3-AF21-CBDF3817E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5D219-9850-A749-A812-DCC6A050A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E396F-1B23-F3A3-0511-712205481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DEF52-9446-668B-36C9-2DBE413EC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B32EA-BB8E-1A78-E352-195F8DE45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8257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34D0-95D6-2A03-AEFF-31BFE64BD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741E04-482B-9185-BE1B-F30C178B7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B69F5A-895A-3E20-0F99-18FC81F59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B99B35-6AE6-0716-0A3B-488AE99C9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4CC7CD-8462-7600-CB80-9ADFC4A59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18068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1805A-E41A-7AD3-9215-E2498430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7EFB5-C607-A863-1696-A0DCDD2A6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5BF1F4-07D4-6A3A-23A7-7F12DC4E74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476EC5-E88E-A84C-B7F6-A24DA323C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AD5988-64CC-0BEF-4262-41FDF2C69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38D28-03B2-C58F-3362-A1606E2F0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42782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48FA1-C0E2-F799-F99A-14B661670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BBE08B-D183-C98F-15F4-3923564B4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C617D-6738-8322-64CF-3306D9E901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6C13EF-8921-21AF-446E-43A50265D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2E4F52-35E7-61A4-8AF5-CC7A3A980A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B5B8D9-D5AA-5FBB-6C8B-94BD962B9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C2B31D-3BC9-100D-3FFE-311A0E85A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7A129-04E8-C66F-66B9-C93EBD40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68236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4F029-C3BC-0946-5B46-27A62C277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CEDA22-AFE9-0D01-CE95-7689B19E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270DA7-E55B-3D04-08C6-1A5D4AC69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1A3DB6-CC78-4E99-BF39-B6631CF57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4009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2D5020-86FF-29D2-CF0B-41FA1C497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2C0C5-2392-1961-1D1D-25D58044F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6E48B-1C67-4D12-8E10-27AC939FF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21764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6C026-103E-B109-AB8C-6D44A5153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E64F4-13F5-17BC-858F-A91D84A402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4961AB-963E-1504-72A4-A1AB170563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523EF0-71CA-2AA7-FBD0-CEDA44B0D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E5D4D8-83C7-F4C3-84E7-A35FB3495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1641F8-F4E2-CAA8-4C5E-A526C2227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1434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BA75A-F806-44FF-F25C-125C9BF22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D945C1-A2FF-5B51-8FCC-CD265E642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A4E7DE-6EF8-8E36-0FA4-D6C69C648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8B6497-FC12-FC5C-D1BE-CB3468C57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604F6-DC90-44B8-7B77-6063A2FEE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ADB8FD-00F8-B052-388B-DA323B887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46792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979D5-D78B-51A4-D507-10241BD86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20A1C5-E115-C982-D300-680CB9BCF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8A9CA-6D71-4F05-0745-C5908856A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3D602-75B8-A654-AB57-B81FC5305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8E863-DEB4-4044-F68B-76F80BE5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527997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A36B2D-9F42-4E6C-811E-EBB1C46CF7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BB7E0C-5FD8-5909-7828-CFF87FAF9C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B09456-A7F9-B919-EDFF-77A9B8A4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707C0-423A-49F8-7B06-1915C0E0A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66D5D8-78EF-1E5F-018E-6A0B3F2C1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78568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2C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2C3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736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039B7D-65D6-46E6-4D0D-5248DE315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87C1B3-42BF-1C76-BE2B-E8E0F8BF69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7298E-FF3A-263A-A4F6-F667A54D7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9BD994-088D-4DFC-A63A-488DD3725837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B327C-5432-928A-78F3-525A01773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CEFF-1A2F-E90C-1E3A-45B9DFF323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30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3E9012-068E-580E-8B8F-2451EB4A5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9532D6-39DA-958D-51DB-1D71DCBEE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65381-025A-C3E2-9A48-96CFE8B98D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816CEB-1072-4B22-A473-588D7AF62EB2}" type="datetimeFigureOut">
              <a:rPr lang="en-IN" smtClean="0"/>
              <a:t>13-05-2026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145B3F-F87A-E427-9837-304E169A59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87EC7-7BD1-4047-A8C3-498FD35E1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7127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A831E-D1DB-BDE8-DA0F-9D8044D8A6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Agentic AI for Leaders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315B3B-2A6A-942B-EC5D-131373CA56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Ajay J. Singala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0139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C374A9-1785-AE64-2B0A-D1C59FC72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Agentic AI &amp; ADLC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F5BD1-2BC9-18E1-BE9F-FC9DE6E25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5006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E8498D-DA8F-EF6C-5420-F153D4979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E39696-2F4E-A3CB-2B45-0571098FE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091" y="1814321"/>
            <a:ext cx="7772400" cy="45609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N" sz="8000" dirty="0"/>
              <a:t>Agentic Systems &amp; Workflows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30043926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C8AA8-8BED-27D0-E5D5-9217A8D35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are AI Agents?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3FF52-2AF7-4398-9F44-F5EF3315F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 AI agent is like a digital employee that can think, decide, and act, not just respond.</a:t>
            </a:r>
          </a:p>
          <a:p>
            <a:r>
              <a:rPr lang="en-US" b="1" dirty="0"/>
              <a:t>Core components</a:t>
            </a:r>
          </a:p>
          <a:p>
            <a:pPr marL="914400" lvl="1" indent="-457200">
              <a:buAutoNum type="arabicPeriod"/>
            </a:pPr>
            <a:r>
              <a:rPr lang="en-US" dirty="0"/>
              <a:t>Tasks (What to do)</a:t>
            </a:r>
          </a:p>
          <a:p>
            <a:pPr marL="914400" lvl="1" indent="-457200">
              <a:buAutoNum type="arabicPeriod"/>
            </a:pPr>
            <a:r>
              <a:rPr lang="en-US" dirty="0"/>
              <a:t>Tools (How to do it)</a:t>
            </a:r>
          </a:p>
          <a:p>
            <a:pPr marL="914400" lvl="1" indent="-457200">
              <a:buAutoNum type="arabicPeriod"/>
            </a:pPr>
            <a:r>
              <a:rPr lang="en-US" sz="2800" dirty="0"/>
              <a:t>Memory (What it remembers</a:t>
            </a:r>
          </a:p>
          <a:p>
            <a:pPr marL="228600" lvl="1">
              <a:spcBef>
                <a:spcPts val="1000"/>
              </a:spcBef>
            </a:pP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7211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35B7E-22E0-085B-2421-7ED5B4EDA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6AE6D-48CD-5684-0CEA-57EF50103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are AI Agents?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E11EE-495A-8495-96D9-00CBDE650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1. Tasks (What to do)</a:t>
            </a:r>
            <a:endParaRPr lang="en-US" dirty="0"/>
          </a:p>
          <a:p>
            <a:pPr lvl="1"/>
            <a:r>
              <a:rPr lang="en-US" dirty="0"/>
              <a:t>The goal or objective given to the agent </a:t>
            </a:r>
          </a:p>
          <a:p>
            <a:pPr lvl="1"/>
            <a:r>
              <a:rPr lang="en-US" dirty="0"/>
              <a:t>Example: </a:t>
            </a:r>
          </a:p>
          <a:p>
            <a:pPr lvl="2"/>
            <a:r>
              <a:rPr lang="en-US" dirty="0"/>
              <a:t>“Analyze customer churn” </a:t>
            </a:r>
          </a:p>
          <a:p>
            <a:pPr lvl="2"/>
            <a:r>
              <a:rPr lang="en-US" dirty="0"/>
              <a:t>“Create a marketing campaign” 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2. Tools (How to do it)</a:t>
            </a:r>
            <a:endParaRPr lang="en-US" dirty="0"/>
          </a:p>
          <a:p>
            <a:pPr lvl="1"/>
            <a:r>
              <a:rPr lang="en-US" dirty="0"/>
              <a:t>External capabilities the agent can use </a:t>
            </a:r>
          </a:p>
          <a:p>
            <a:pPr lvl="1"/>
            <a:r>
              <a:rPr lang="en-US" dirty="0"/>
              <a:t>Examples: </a:t>
            </a:r>
          </a:p>
          <a:p>
            <a:pPr lvl="2"/>
            <a:r>
              <a:rPr lang="en-US" dirty="0"/>
              <a:t>CRM system </a:t>
            </a:r>
          </a:p>
          <a:p>
            <a:pPr lvl="2"/>
            <a:r>
              <a:rPr lang="en-US" dirty="0"/>
              <a:t>Excel / database </a:t>
            </a:r>
          </a:p>
          <a:p>
            <a:pPr lvl="2"/>
            <a:r>
              <a:rPr lang="en-US" dirty="0"/>
              <a:t>APIs (weather, fraud detection, pricing) 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b="1" dirty="0"/>
              <a:t>3. Memory (What it remembers)</a:t>
            </a:r>
            <a:endParaRPr lang="en-US" dirty="0"/>
          </a:p>
          <a:p>
            <a:pPr lvl="1"/>
            <a:r>
              <a:rPr lang="en-US" dirty="0"/>
              <a:t>Context across steps or conversations </a:t>
            </a:r>
          </a:p>
          <a:p>
            <a:pPr lvl="1"/>
            <a:r>
              <a:rPr lang="en-US" dirty="0"/>
              <a:t>Types (keep high-level): </a:t>
            </a:r>
          </a:p>
          <a:p>
            <a:pPr lvl="2"/>
            <a:r>
              <a:rPr lang="en-US" dirty="0"/>
              <a:t>Short-term: current task context </a:t>
            </a:r>
          </a:p>
          <a:p>
            <a:pPr lvl="2"/>
            <a:r>
              <a:rPr lang="en-US" dirty="0"/>
              <a:t>Long-term: past interactions, preferences</a:t>
            </a:r>
          </a:p>
        </p:txBody>
      </p:sp>
    </p:spTree>
    <p:extLst>
      <p:ext uri="{BB962C8B-B14F-4D97-AF65-F5344CB8AC3E}">
        <p14:creationId xmlns:p14="http://schemas.microsoft.com/office/powerpoint/2010/main" val="18104365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90A4B-5BB6-3C35-FD7C-AC047C18E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F619E-061F-54E5-EDA5-9035E618D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are AI Agents?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FC7B6-BD00-0027-34B3-DD98D45D8A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Example</a:t>
            </a:r>
          </a:p>
          <a:p>
            <a:pPr lvl="1"/>
            <a:r>
              <a:rPr lang="en-US" b="1" dirty="0"/>
              <a:t>Insurance Claims Agent</a:t>
            </a:r>
            <a:endParaRPr lang="en-US" dirty="0"/>
          </a:p>
          <a:p>
            <a:pPr lvl="2"/>
            <a:r>
              <a:rPr lang="en-US" dirty="0"/>
              <a:t>Task: Process a claim 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Tools: </a:t>
            </a:r>
          </a:p>
          <a:p>
            <a:pPr lvl="3"/>
            <a:r>
              <a:rPr lang="en-US" dirty="0"/>
              <a:t>Policy database </a:t>
            </a:r>
          </a:p>
          <a:p>
            <a:pPr lvl="3"/>
            <a:r>
              <a:rPr lang="en-US" dirty="0"/>
              <a:t>Fraud detection API </a:t>
            </a:r>
          </a:p>
          <a:p>
            <a:pPr lvl="3"/>
            <a:r>
              <a:rPr lang="en-US" dirty="0"/>
              <a:t>Document reader </a:t>
            </a:r>
          </a:p>
          <a:p>
            <a:pPr lvl="2"/>
            <a:endParaRPr lang="en-US" dirty="0"/>
          </a:p>
          <a:p>
            <a:pPr lvl="2"/>
            <a:r>
              <a:rPr lang="en-US" dirty="0"/>
              <a:t>Memory: </a:t>
            </a:r>
          </a:p>
          <a:p>
            <a:pPr lvl="3"/>
            <a:r>
              <a:rPr lang="en-US" dirty="0"/>
              <a:t>Past claims of the customer 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523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0451-36EC-C06C-1B72-47303A8B1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Architecture: Planner–Executor Model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0F734-939B-3887-645C-6FCC784C25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Components</a:t>
            </a:r>
          </a:p>
          <a:p>
            <a:pPr marL="457200" lvl="1" indent="0">
              <a:buNone/>
            </a:pPr>
            <a:r>
              <a:rPr lang="en-US" b="1" dirty="0"/>
              <a:t>1. Planner (Brain)</a:t>
            </a:r>
            <a:endParaRPr lang="en-US" dirty="0"/>
          </a:p>
          <a:p>
            <a:pPr lvl="2"/>
            <a:r>
              <a:rPr lang="en-US" dirty="0"/>
              <a:t>Breaks a goal into steps </a:t>
            </a:r>
          </a:p>
          <a:p>
            <a:pPr lvl="2"/>
            <a:r>
              <a:rPr lang="en-US" dirty="0"/>
              <a:t>Decides </a:t>
            </a:r>
            <a:r>
              <a:rPr lang="en-US" i="1" dirty="0"/>
              <a:t>what to do next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en-US" b="1" dirty="0"/>
              <a:t>2. Executor (Doer)</a:t>
            </a:r>
            <a:endParaRPr lang="en-US" dirty="0"/>
          </a:p>
          <a:p>
            <a:pPr lvl="2"/>
            <a:r>
              <a:rPr lang="en-US" dirty="0"/>
              <a:t>Executes each step </a:t>
            </a:r>
          </a:p>
          <a:p>
            <a:pPr lvl="2"/>
            <a:r>
              <a:rPr lang="en-US" dirty="0"/>
              <a:t>Calls tools, fetches data, performs actions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6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EC89F-D266-164F-A1F2-DDAA268D9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C8664-95BF-1A88-8A39-85481D786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Architecture: Planner–Executor Model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12132-B24B-E9E8-F1E5-89B0CDDB72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Example</a:t>
            </a:r>
          </a:p>
          <a:p>
            <a:pPr lvl="1"/>
            <a:r>
              <a:rPr lang="en-US" b="1" dirty="0"/>
              <a:t>Goal:</a:t>
            </a:r>
            <a:r>
              <a:rPr lang="en-US" dirty="0"/>
              <a:t> “Launch a new product campaign”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Planner decides:</a:t>
            </a:r>
            <a:endParaRPr lang="en-US" dirty="0"/>
          </a:p>
          <a:p>
            <a:pPr lvl="2"/>
            <a:r>
              <a:rPr lang="en-US" dirty="0"/>
              <a:t>Analyze target audience </a:t>
            </a:r>
          </a:p>
          <a:p>
            <a:pPr lvl="2"/>
            <a:r>
              <a:rPr lang="en-US" dirty="0"/>
              <a:t>Generate campaign ideas </a:t>
            </a:r>
          </a:p>
          <a:p>
            <a:pPr lvl="2"/>
            <a:r>
              <a:rPr lang="en-US" dirty="0"/>
              <a:t>Create content </a:t>
            </a:r>
          </a:p>
          <a:p>
            <a:pPr lvl="2"/>
            <a:r>
              <a:rPr lang="en-US" dirty="0"/>
              <a:t>Schedule posts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Executor does:</a:t>
            </a:r>
            <a:endParaRPr lang="en-US" dirty="0"/>
          </a:p>
          <a:p>
            <a:pPr lvl="2"/>
            <a:r>
              <a:rPr lang="en-US" dirty="0"/>
              <a:t>Pulls data from CRM </a:t>
            </a:r>
          </a:p>
          <a:p>
            <a:pPr lvl="2"/>
            <a:r>
              <a:rPr lang="en-US" dirty="0"/>
              <a:t>Uses content generation tool </a:t>
            </a:r>
          </a:p>
          <a:p>
            <a:pPr lvl="2"/>
            <a:r>
              <a:rPr lang="en-US" dirty="0"/>
              <a:t>Uses scheduling tool</a:t>
            </a:r>
          </a:p>
        </p:txBody>
      </p:sp>
    </p:spTree>
    <p:extLst>
      <p:ext uri="{BB962C8B-B14F-4D97-AF65-F5344CB8AC3E}">
        <p14:creationId xmlns:p14="http://schemas.microsoft.com/office/powerpoint/2010/main" val="111313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083AE-A5DA-E227-C8D0-362C2F432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Multi-step Workflows and Tool Usage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67377-440E-C675-896D-47A4C76659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Unlike ChatGPT answering one question, agents complete </a:t>
            </a:r>
            <a:r>
              <a:rPr lang="en-US" i="1" dirty="0"/>
              <a:t>entire workflows</a:t>
            </a:r>
            <a:r>
              <a:rPr lang="en-US" dirty="0"/>
              <a:t>.</a:t>
            </a:r>
          </a:p>
          <a:p>
            <a:r>
              <a:rPr lang="en-US" dirty="0"/>
              <a:t>Not one prompt -&gt; </a:t>
            </a:r>
            <a:r>
              <a:rPr lang="en-US" b="1" dirty="0"/>
              <a:t>Multiple steps + decisions + tools</a:t>
            </a:r>
            <a:endParaRPr lang="en-US" dirty="0"/>
          </a:p>
          <a:p>
            <a:endParaRPr lang="en-IN" b="1" dirty="0"/>
          </a:p>
          <a:p>
            <a:r>
              <a:rPr lang="en-IN" b="1" dirty="0"/>
              <a:t>Example 1: Finance</a:t>
            </a:r>
          </a:p>
          <a:p>
            <a:pPr lvl="1"/>
            <a:r>
              <a:rPr lang="en-IN" b="1" dirty="0"/>
              <a:t>Task:</a:t>
            </a:r>
            <a:r>
              <a:rPr lang="en-IN" dirty="0"/>
              <a:t> Monthly financial reporting</a:t>
            </a:r>
          </a:p>
          <a:p>
            <a:pPr lvl="1"/>
            <a:endParaRPr lang="en-IN" dirty="0"/>
          </a:p>
          <a:p>
            <a:pPr lvl="1"/>
            <a:r>
              <a:rPr lang="en-IN" dirty="0"/>
              <a:t>Steps:</a:t>
            </a:r>
          </a:p>
          <a:p>
            <a:pPr lvl="2"/>
            <a:r>
              <a:rPr lang="en-IN" dirty="0"/>
              <a:t>Pull data from ERP </a:t>
            </a:r>
          </a:p>
          <a:p>
            <a:pPr lvl="2"/>
            <a:r>
              <a:rPr lang="en-IN" dirty="0"/>
              <a:t>Clean and validate data </a:t>
            </a:r>
          </a:p>
          <a:p>
            <a:pPr lvl="2"/>
            <a:r>
              <a:rPr lang="en-IN" dirty="0"/>
              <a:t>Generate summary insights </a:t>
            </a:r>
          </a:p>
          <a:p>
            <a:pPr lvl="2"/>
            <a:r>
              <a:rPr lang="en-IN" dirty="0"/>
              <a:t>Highlight anomalies </a:t>
            </a:r>
          </a:p>
          <a:p>
            <a:pPr lvl="2"/>
            <a:r>
              <a:rPr lang="en-IN" dirty="0"/>
              <a:t>Create presentation </a:t>
            </a:r>
          </a:p>
          <a:p>
            <a:pPr lvl="1"/>
            <a:endParaRPr lang="en-IN" dirty="0"/>
          </a:p>
          <a:p>
            <a:pPr lvl="1"/>
            <a:r>
              <a:rPr lang="en-IN" dirty="0"/>
              <a:t>Tools used:</a:t>
            </a:r>
          </a:p>
          <a:p>
            <a:pPr lvl="2"/>
            <a:r>
              <a:rPr lang="en-IN" dirty="0"/>
              <a:t>ERP system </a:t>
            </a:r>
          </a:p>
          <a:p>
            <a:pPr lvl="2"/>
            <a:r>
              <a:rPr lang="en-IN" dirty="0"/>
              <a:t>Excel / data processing </a:t>
            </a:r>
          </a:p>
          <a:p>
            <a:pPr lvl="2"/>
            <a:r>
              <a:rPr lang="en-IN" dirty="0"/>
              <a:t>LLM for insights </a:t>
            </a:r>
          </a:p>
          <a:p>
            <a:pPr lvl="2"/>
            <a:r>
              <a:rPr lang="en-IN" dirty="0"/>
              <a:t>PowerPoint generator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5286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B2895-71F1-18C4-922A-87A30E47B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5EC57-83E3-4EE9-A80C-17B5554F6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Multi-step Workflows and Tool Usage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3EA80-4422-15D5-B1FD-872602266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Example 2: Customer Support</a:t>
            </a:r>
          </a:p>
          <a:p>
            <a:pPr lvl="1"/>
            <a:r>
              <a:rPr lang="en-US" b="1" dirty="0"/>
              <a:t>Task:</a:t>
            </a:r>
            <a:r>
              <a:rPr lang="en-US" dirty="0"/>
              <a:t> Resolve a customer complaint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Steps:</a:t>
            </a:r>
          </a:p>
          <a:p>
            <a:pPr lvl="2"/>
            <a:r>
              <a:rPr lang="en-US" dirty="0"/>
              <a:t>Read customer email </a:t>
            </a:r>
          </a:p>
          <a:p>
            <a:pPr lvl="2"/>
            <a:r>
              <a:rPr lang="en-US" dirty="0"/>
              <a:t>Retrieve order details </a:t>
            </a:r>
          </a:p>
          <a:p>
            <a:pPr lvl="2"/>
            <a:r>
              <a:rPr lang="en-US" dirty="0"/>
              <a:t>Check refund policy </a:t>
            </a:r>
          </a:p>
          <a:p>
            <a:pPr lvl="2"/>
            <a:r>
              <a:rPr lang="en-US" dirty="0"/>
              <a:t>Decide action </a:t>
            </a:r>
          </a:p>
          <a:p>
            <a:pPr lvl="2"/>
            <a:r>
              <a:rPr lang="en-US" dirty="0"/>
              <a:t>Respond to customer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3666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6E6C9-E3BE-F5BB-A651-61001159B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Enterprise Use Cases of Agentic Workflows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64C46-6ED3-4534-2DF6-2BF2DD9DDF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dirty="0"/>
              <a:t>Operations Automation</a:t>
            </a:r>
          </a:p>
          <a:p>
            <a:pPr lvl="1"/>
            <a:r>
              <a:rPr lang="en-IN" b="1" dirty="0"/>
              <a:t>Example: Invoice Processing</a:t>
            </a:r>
            <a:endParaRPr lang="en-IN" dirty="0"/>
          </a:p>
          <a:p>
            <a:pPr lvl="2"/>
            <a:r>
              <a:rPr lang="en-IN" dirty="0"/>
              <a:t>Read invoice </a:t>
            </a:r>
          </a:p>
          <a:p>
            <a:pPr lvl="2"/>
            <a:r>
              <a:rPr lang="en-IN" dirty="0"/>
              <a:t>Match with PO </a:t>
            </a:r>
          </a:p>
          <a:p>
            <a:pPr lvl="2"/>
            <a:r>
              <a:rPr lang="en-IN" dirty="0"/>
              <a:t>Flag discrepancies </a:t>
            </a:r>
          </a:p>
          <a:p>
            <a:pPr lvl="2"/>
            <a:r>
              <a:rPr lang="en-IN" dirty="0"/>
              <a:t>Update system </a:t>
            </a:r>
          </a:p>
          <a:p>
            <a:pPr lvl="1"/>
            <a:r>
              <a:rPr lang="en-IN" dirty="0"/>
              <a:t>Outcome:</a:t>
            </a:r>
          </a:p>
          <a:p>
            <a:pPr lvl="2"/>
            <a:r>
              <a:rPr lang="en-IN" dirty="0"/>
              <a:t>Faster processing </a:t>
            </a:r>
          </a:p>
          <a:p>
            <a:pPr lvl="2"/>
            <a:r>
              <a:rPr lang="en-IN" dirty="0"/>
              <a:t>Reduced manual errors </a:t>
            </a:r>
          </a:p>
          <a:p>
            <a:endParaRPr lang="en-IN" dirty="0"/>
          </a:p>
          <a:p>
            <a:r>
              <a:rPr lang="en-IN" b="1" dirty="0"/>
              <a:t>IT &amp; Engineering</a:t>
            </a:r>
          </a:p>
          <a:p>
            <a:pPr lvl="1"/>
            <a:r>
              <a:rPr lang="en-IN" b="1" dirty="0"/>
              <a:t>Example: Incident Management</a:t>
            </a:r>
            <a:endParaRPr lang="en-IN" dirty="0"/>
          </a:p>
          <a:p>
            <a:pPr lvl="2"/>
            <a:r>
              <a:rPr lang="en-IN" dirty="0"/>
              <a:t>Detect issue </a:t>
            </a:r>
          </a:p>
          <a:p>
            <a:pPr lvl="2"/>
            <a:r>
              <a:rPr lang="en-IN" dirty="0" err="1"/>
              <a:t>Analyze</a:t>
            </a:r>
            <a:r>
              <a:rPr lang="en-IN" dirty="0"/>
              <a:t> logs </a:t>
            </a:r>
          </a:p>
          <a:p>
            <a:pPr lvl="2"/>
            <a:r>
              <a:rPr lang="en-IN" dirty="0"/>
              <a:t>Suggest fix </a:t>
            </a:r>
          </a:p>
          <a:p>
            <a:pPr lvl="2"/>
            <a:r>
              <a:rPr lang="en-IN" dirty="0"/>
              <a:t>Trigger automation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9218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48D07-01C5-56EB-5B7C-D4453650D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E169E-2A64-D71C-6474-EBC2CA875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Enterprise Use Cases of Agentic Workflows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B4738-4F43-EAE4-1963-F4F65D0D6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b="1" dirty="0"/>
              <a:t>Sales &amp; Marketing</a:t>
            </a:r>
          </a:p>
          <a:p>
            <a:pPr lvl="1"/>
            <a:r>
              <a:rPr lang="en-IN" b="1" dirty="0"/>
              <a:t>Example: Lead Nurturing Agent</a:t>
            </a:r>
            <a:endParaRPr lang="en-IN" dirty="0"/>
          </a:p>
          <a:p>
            <a:pPr lvl="2"/>
            <a:r>
              <a:rPr lang="en-IN" dirty="0" err="1"/>
              <a:t>Analyze</a:t>
            </a:r>
            <a:r>
              <a:rPr lang="en-IN" dirty="0"/>
              <a:t> lead </a:t>
            </a:r>
            <a:r>
              <a:rPr lang="en-IN" dirty="0" err="1"/>
              <a:t>behavior</a:t>
            </a:r>
            <a:r>
              <a:rPr lang="en-IN" dirty="0"/>
              <a:t> </a:t>
            </a:r>
          </a:p>
          <a:p>
            <a:pPr lvl="2"/>
            <a:r>
              <a:rPr lang="en-IN" dirty="0"/>
              <a:t>Send personalized emails </a:t>
            </a:r>
          </a:p>
          <a:p>
            <a:pPr lvl="2"/>
            <a:r>
              <a:rPr lang="en-IN" dirty="0"/>
              <a:t>Schedule follow-ups </a:t>
            </a:r>
          </a:p>
          <a:p>
            <a:pPr lvl="1"/>
            <a:r>
              <a:rPr lang="en-IN" dirty="0"/>
              <a:t>Outcome:</a:t>
            </a:r>
          </a:p>
          <a:p>
            <a:pPr lvl="2"/>
            <a:r>
              <a:rPr lang="en-IN" dirty="0"/>
              <a:t>Higher conversion </a:t>
            </a:r>
          </a:p>
          <a:p>
            <a:pPr lvl="2"/>
            <a:r>
              <a:rPr lang="en-IN" dirty="0"/>
              <a:t>Scalable personalization </a:t>
            </a:r>
          </a:p>
          <a:p>
            <a:endParaRPr lang="en-IN" dirty="0"/>
          </a:p>
          <a:p>
            <a:r>
              <a:rPr lang="en-IN" b="1" dirty="0"/>
              <a:t>BFSI / Insurance</a:t>
            </a:r>
          </a:p>
          <a:p>
            <a:pPr lvl="1"/>
            <a:r>
              <a:rPr lang="en-IN" b="1" dirty="0"/>
              <a:t>Example: Claims Processing</a:t>
            </a:r>
            <a:endParaRPr lang="en-IN" dirty="0"/>
          </a:p>
          <a:p>
            <a:pPr lvl="2"/>
            <a:r>
              <a:rPr lang="en-IN" dirty="0"/>
              <a:t>Extract claim details </a:t>
            </a:r>
          </a:p>
          <a:p>
            <a:pPr lvl="2"/>
            <a:r>
              <a:rPr lang="en-IN" dirty="0"/>
              <a:t>Validate policy </a:t>
            </a:r>
          </a:p>
          <a:p>
            <a:pPr lvl="2"/>
            <a:r>
              <a:rPr lang="en-IN" dirty="0"/>
              <a:t>Detect fraud </a:t>
            </a:r>
          </a:p>
          <a:p>
            <a:pPr lvl="2"/>
            <a:r>
              <a:rPr lang="en-IN" dirty="0"/>
              <a:t>Approve/reject</a:t>
            </a:r>
          </a:p>
          <a:p>
            <a:endParaRPr lang="en-US" b="1" dirty="0"/>
          </a:p>
          <a:p>
            <a:r>
              <a:rPr lang="en-US" b="1" dirty="0"/>
              <a:t>Internal Audit / Compliance</a:t>
            </a:r>
          </a:p>
          <a:p>
            <a:pPr lvl="1"/>
            <a:r>
              <a:rPr lang="en-US" b="1" dirty="0"/>
              <a:t>Example: Audit Assistant Agent</a:t>
            </a:r>
            <a:endParaRPr lang="en-US" dirty="0"/>
          </a:p>
          <a:p>
            <a:pPr lvl="2"/>
            <a:r>
              <a:rPr lang="en-US" dirty="0"/>
              <a:t>Read policies </a:t>
            </a:r>
          </a:p>
          <a:p>
            <a:pPr lvl="2"/>
            <a:r>
              <a:rPr lang="en-US" dirty="0"/>
              <a:t>Check transactions </a:t>
            </a:r>
          </a:p>
          <a:p>
            <a:pPr lvl="2"/>
            <a:r>
              <a:rPr lang="en-US" dirty="0"/>
              <a:t>Identify exceptions </a:t>
            </a:r>
          </a:p>
          <a:p>
            <a:pPr lvl="2"/>
            <a:r>
              <a:rPr lang="en-US" dirty="0"/>
              <a:t>Generate audit report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31187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ABE98-D43A-2AB0-23F5-59C41529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9F528-6C96-2E7C-F08A-44A79F648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Summarize</a:t>
            </a:r>
          </a:p>
          <a:p>
            <a:r>
              <a:rPr lang="en-US" dirty="0"/>
              <a:t>Extract insights</a:t>
            </a:r>
          </a:p>
          <a:p>
            <a:r>
              <a:rPr lang="en-US" dirty="0"/>
              <a:t>Recommendations</a:t>
            </a:r>
          </a:p>
          <a:p>
            <a:r>
              <a:rPr lang="en-US" dirty="0"/>
              <a:t>Agent Workflow – No Graph</a:t>
            </a:r>
          </a:p>
          <a:p>
            <a:r>
              <a:rPr lang="en-US" dirty="0"/>
              <a:t>Agent Workflow – Graph, Tools, Nodes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3159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A60591-FF6C-0AC3-0377-8CE9A21C8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EDC4742-3D24-FAE0-DDBF-4C813EE8A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53C103-9948-FEF6-C6CB-380D247F6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091" y="1814321"/>
            <a:ext cx="7772400" cy="45609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N" sz="8000" dirty="0"/>
              <a:t>Agent-Driven Lifecycle (ADLC)</a:t>
            </a:r>
            <a:endParaRPr lang="en-US" sz="7400" b="1" dirty="0"/>
          </a:p>
        </p:txBody>
      </p:sp>
    </p:spTree>
    <p:extLst>
      <p:ext uri="{BB962C8B-B14F-4D97-AF65-F5344CB8AC3E}">
        <p14:creationId xmlns:p14="http://schemas.microsoft.com/office/powerpoint/2010/main" val="12720572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6422-742E-76E4-3D2A-7D48CAC72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Tie This to ADLC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9B57F-7042-8576-8F53-426E4293F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Agentic Development Lifecycle (ADLC)</a:t>
            </a:r>
          </a:p>
          <a:p>
            <a:endParaRPr lang="en-US" dirty="0"/>
          </a:p>
          <a:p>
            <a:r>
              <a:rPr lang="en-US" dirty="0"/>
              <a:t>Traditional SDLC vs Agentic ADLC:</a:t>
            </a:r>
          </a:p>
          <a:p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7BADE6-82A0-BDC5-5A2B-3783722017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305304"/>
              </p:ext>
            </p:extLst>
          </p:nvPr>
        </p:nvGraphicFramePr>
        <p:xfrm>
          <a:off x="838200" y="3429000"/>
          <a:ext cx="10515600" cy="219456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18497779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22391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Traditional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Agentic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4461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Build features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Define goals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4082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Hard-coded logic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Dynamic decision-making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26895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APIs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Tools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5909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Database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Memory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0065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Workflow engine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Agent orchestration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0317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8374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DBBAC-1227-A489-45E7-E9A968D58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SDLC → Agent-Driven Lifecycle (ADLC)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DDF9D-F52E-1906-8D43-230BB940A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b="1" dirty="0"/>
              <a:t>Traditional SDLC</a:t>
            </a:r>
            <a:endParaRPr lang="en-US" sz="2000" dirty="0"/>
          </a:p>
          <a:p>
            <a:pPr lvl="1"/>
            <a:r>
              <a:rPr lang="en-US" sz="1800" dirty="0"/>
              <a:t>Humans design, build, test, and deploy software. </a:t>
            </a:r>
          </a:p>
          <a:p>
            <a:pPr lvl="1"/>
            <a:r>
              <a:rPr lang="en-US" sz="1800" dirty="0"/>
              <a:t>AI plays little or no role.</a:t>
            </a:r>
          </a:p>
          <a:p>
            <a:r>
              <a:rPr lang="en-US" sz="2000" b="1" dirty="0"/>
              <a:t>Agent-Driven Lifecycle (ADLC)</a:t>
            </a:r>
            <a:endParaRPr lang="en-US" sz="2000" dirty="0"/>
          </a:p>
          <a:p>
            <a:pPr lvl="1"/>
            <a:r>
              <a:rPr lang="en-US" sz="1800" dirty="0"/>
              <a:t>Humans define goals. </a:t>
            </a:r>
          </a:p>
          <a:p>
            <a:pPr lvl="1"/>
            <a:r>
              <a:rPr lang="en-US" sz="1800" dirty="0"/>
              <a:t>AI agents </a:t>
            </a:r>
            <a:r>
              <a:rPr lang="en-US" sz="1800" i="1" dirty="0"/>
              <a:t>co-create, execute, and optimize</a:t>
            </a:r>
            <a:r>
              <a:rPr lang="en-US" sz="1800" dirty="0"/>
              <a:t> the lifecycle.</a:t>
            </a:r>
            <a:endParaRPr lang="en-US" sz="1600" dirty="0"/>
          </a:p>
          <a:p>
            <a:endParaRPr lang="en-US" sz="2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882D618-6AFB-FBA9-BB5C-C85CC067D0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592194"/>
              </p:ext>
            </p:extLst>
          </p:nvPr>
        </p:nvGraphicFramePr>
        <p:xfrm>
          <a:off x="838200" y="4117340"/>
          <a:ext cx="10515600" cy="219456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630680">
                  <a:extLst>
                    <a:ext uri="{9D8B030D-6E8A-4147-A177-3AD203B41FA5}">
                      <a16:colId xmlns:a16="http://schemas.microsoft.com/office/drawing/2014/main" val="3713043229"/>
                    </a:ext>
                  </a:extLst>
                </a:gridCol>
                <a:gridCol w="3698240">
                  <a:extLst>
                    <a:ext uri="{9D8B030D-6E8A-4147-A177-3AD203B41FA5}">
                      <a16:colId xmlns:a16="http://schemas.microsoft.com/office/drawing/2014/main" val="2771315584"/>
                    </a:ext>
                  </a:extLst>
                </a:gridCol>
                <a:gridCol w="5186680">
                  <a:extLst>
                    <a:ext uri="{9D8B030D-6E8A-4147-A177-3AD203B41FA5}">
                      <a16:colId xmlns:a16="http://schemas.microsoft.com/office/drawing/2014/main" val="28310337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Traditional SDLC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Agent-Driven Lifecycle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47315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Requirements written manually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AI helps generate &amp; refine requirements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49261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Architects create designs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AI suggests architectures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0317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Developers write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AI co-generates code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8496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QA writes &amp; runs 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AI generates &amp; executes tests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402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Deployment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DevOps pipelines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AI monitors &amp; optimizes continuously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2549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7703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2355B-E841-4993-4196-ED667BA94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6B0E4-69EE-4D52-A8FF-65C8DD477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SDLC → Agent-Driven Lifecycle (ADLC)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6FC024-13D3-4CB6-E2DA-C0544681A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b="1" dirty="0"/>
              <a:t>Example</a:t>
            </a:r>
          </a:p>
          <a:p>
            <a:pPr lvl="1"/>
            <a:r>
              <a:rPr lang="en-IN" b="1" dirty="0"/>
              <a:t>Building a Loan Processing System</a:t>
            </a:r>
            <a:endParaRPr lang="en-IN" dirty="0"/>
          </a:p>
          <a:p>
            <a:pPr lvl="1"/>
            <a:endParaRPr lang="en-IN" dirty="0"/>
          </a:p>
          <a:p>
            <a:pPr lvl="2"/>
            <a:r>
              <a:rPr lang="en-IN" dirty="0"/>
              <a:t>SDLC: </a:t>
            </a:r>
          </a:p>
          <a:p>
            <a:pPr lvl="3"/>
            <a:r>
              <a:rPr lang="en-IN" dirty="0"/>
              <a:t>BA writes requirements </a:t>
            </a:r>
          </a:p>
          <a:p>
            <a:pPr lvl="3"/>
            <a:r>
              <a:rPr lang="en-IN" dirty="0"/>
              <a:t>Dev writes code </a:t>
            </a:r>
          </a:p>
          <a:p>
            <a:pPr lvl="3"/>
            <a:r>
              <a:rPr lang="en-IN" dirty="0"/>
              <a:t>QA tests </a:t>
            </a:r>
          </a:p>
          <a:p>
            <a:pPr lvl="2"/>
            <a:endParaRPr lang="en-IN" dirty="0"/>
          </a:p>
          <a:p>
            <a:pPr lvl="2"/>
            <a:r>
              <a:rPr lang="en-IN" dirty="0"/>
              <a:t>ADLC: </a:t>
            </a:r>
          </a:p>
          <a:p>
            <a:pPr lvl="3"/>
            <a:r>
              <a:rPr lang="en-IN" dirty="0"/>
              <a:t>AI drafts requirements from business input </a:t>
            </a:r>
          </a:p>
          <a:p>
            <a:pPr lvl="3"/>
            <a:r>
              <a:rPr lang="en-IN" dirty="0"/>
              <a:t>AI suggests architecture </a:t>
            </a:r>
          </a:p>
          <a:p>
            <a:pPr lvl="3"/>
            <a:r>
              <a:rPr lang="en-IN" dirty="0"/>
              <a:t>AI generates code </a:t>
            </a:r>
          </a:p>
          <a:p>
            <a:pPr lvl="3"/>
            <a:r>
              <a:rPr lang="en-IN" dirty="0"/>
              <a:t>AI tests edge cases automatically </a:t>
            </a:r>
          </a:p>
          <a:p>
            <a:pPr lvl="1"/>
            <a:r>
              <a:rPr lang="en-IN" dirty="0"/>
              <a:t>Human role becomes </a:t>
            </a:r>
            <a:r>
              <a:rPr lang="en-IN" b="1" dirty="0"/>
              <a:t>review + decision-making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1988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1D36-256C-5E2B-7C96-25DB8E182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A0E97-D166-D3BE-13CD-EE3FC90FA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in Planning, Development, Testing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C8C7F7-F1E9-1B31-FFBD-3DF6ADDCD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AI in Planning</a:t>
            </a:r>
          </a:p>
          <a:p>
            <a:pPr lvl="1"/>
            <a:r>
              <a:rPr lang="en-IN" b="1" dirty="0"/>
              <a:t>What AI does</a:t>
            </a:r>
          </a:p>
          <a:p>
            <a:pPr lvl="2"/>
            <a:r>
              <a:rPr lang="en-IN" dirty="0"/>
              <a:t>Converts ideas -&gt; structured requirements </a:t>
            </a:r>
          </a:p>
          <a:p>
            <a:pPr lvl="2"/>
            <a:r>
              <a:rPr lang="en-IN" dirty="0"/>
              <a:t>Identifies missing scenarios </a:t>
            </a:r>
          </a:p>
          <a:p>
            <a:pPr lvl="2"/>
            <a:r>
              <a:rPr lang="en-IN" dirty="0"/>
              <a:t>Suggests workflows </a:t>
            </a:r>
          </a:p>
          <a:p>
            <a:pPr lvl="2"/>
            <a:endParaRPr lang="en-IN" dirty="0"/>
          </a:p>
          <a:p>
            <a:pPr lvl="2"/>
            <a:r>
              <a:rPr lang="en-IN" b="1" dirty="0"/>
              <a:t>Example</a:t>
            </a:r>
          </a:p>
          <a:p>
            <a:pPr lvl="3"/>
            <a:r>
              <a:rPr lang="en-IN" b="1" dirty="0"/>
              <a:t>Input:</a:t>
            </a:r>
            <a:endParaRPr lang="en-IN" dirty="0"/>
          </a:p>
          <a:p>
            <a:pPr marL="1828800" lvl="4" indent="0">
              <a:buNone/>
            </a:pPr>
            <a:r>
              <a:rPr lang="en-IN" dirty="0"/>
              <a:t>“We need a system to reduce insurance fraud”</a:t>
            </a:r>
          </a:p>
          <a:p>
            <a:pPr lvl="3"/>
            <a:r>
              <a:rPr lang="en-IN" b="1" dirty="0"/>
              <a:t>AI helps with:</a:t>
            </a:r>
            <a:endParaRPr lang="en-IN" dirty="0"/>
          </a:p>
          <a:p>
            <a:pPr lvl="4"/>
            <a:r>
              <a:rPr lang="en-IN" dirty="0"/>
              <a:t>Defining user journeys </a:t>
            </a:r>
          </a:p>
          <a:p>
            <a:pPr lvl="4"/>
            <a:r>
              <a:rPr lang="en-IN" dirty="0"/>
              <a:t>Identifying fraud scenarios </a:t>
            </a:r>
          </a:p>
          <a:p>
            <a:pPr lvl="4"/>
            <a:r>
              <a:rPr lang="en-IN" dirty="0"/>
              <a:t>Suggesting data requirements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78793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ED78C-AB40-62DD-F9DA-A2A07210B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00B3A-439D-73E9-1C1B-F8EBC56D9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in Planning, Development, Testing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4C2AB-C5D4-772C-E946-368C3BA9D3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AI in Development</a:t>
            </a:r>
          </a:p>
          <a:p>
            <a:pPr lvl="1"/>
            <a:r>
              <a:rPr lang="en-US" b="1" dirty="0"/>
              <a:t>What AI does</a:t>
            </a:r>
          </a:p>
          <a:p>
            <a:pPr lvl="2"/>
            <a:r>
              <a:rPr lang="en-US" dirty="0"/>
              <a:t>Generates code </a:t>
            </a:r>
          </a:p>
          <a:p>
            <a:pPr lvl="2"/>
            <a:r>
              <a:rPr lang="en-US" dirty="0"/>
              <a:t>Suggests improvements </a:t>
            </a:r>
          </a:p>
          <a:p>
            <a:pPr lvl="2"/>
            <a:r>
              <a:rPr lang="en-US" dirty="0"/>
              <a:t>Integrates APIs </a:t>
            </a:r>
          </a:p>
          <a:p>
            <a:pPr lvl="2"/>
            <a:r>
              <a:rPr lang="en-US" dirty="0"/>
              <a:t>Refactors legacy systems </a:t>
            </a:r>
          </a:p>
          <a:p>
            <a:pPr lvl="2"/>
            <a:endParaRPr lang="en-US" dirty="0"/>
          </a:p>
          <a:p>
            <a:pPr lvl="2"/>
            <a:r>
              <a:rPr lang="en-US" b="1" dirty="0"/>
              <a:t>Example</a:t>
            </a:r>
          </a:p>
          <a:p>
            <a:pPr lvl="3"/>
            <a:r>
              <a:rPr lang="en-US" b="1" dirty="0"/>
              <a:t>Task:</a:t>
            </a:r>
            <a:r>
              <a:rPr lang="en-US" dirty="0"/>
              <a:t> Build customer onboarding flow</a:t>
            </a:r>
          </a:p>
          <a:p>
            <a:pPr lvl="3"/>
            <a:r>
              <a:rPr lang="en-US" dirty="0"/>
              <a:t>AI can:</a:t>
            </a:r>
          </a:p>
          <a:p>
            <a:pPr lvl="4"/>
            <a:r>
              <a:rPr lang="en-US" dirty="0"/>
              <a:t>Generate forms </a:t>
            </a:r>
          </a:p>
          <a:p>
            <a:pPr lvl="4"/>
            <a:r>
              <a:rPr lang="en-US" dirty="0"/>
              <a:t>Validate inputs </a:t>
            </a:r>
          </a:p>
          <a:p>
            <a:pPr lvl="4"/>
            <a:r>
              <a:rPr lang="en-US" dirty="0"/>
              <a:t>Connect to backend APIs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167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39D0B-41E9-EA9B-75E3-706C21633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39441-9DE4-8D56-6D64-B7461DDD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in Planning, Development, Testing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5BDD4A-8204-B3E2-167F-FB82E6805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b="1" dirty="0"/>
              <a:t>AI in Testing</a:t>
            </a:r>
          </a:p>
          <a:p>
            <a:pPr lvl="1"/>
            <a:r>
              <a:rPr lang="en-IN" b="1" dirty="0"/>
              <a:t>What AI does</a:t>
            </a:r>
          </a:p>
          <a:p>
            <a:pPr lvl="2"/>
            <a:r>
              <a:rPr lang="en-IN" dirty="0"/>
              <a:t>Generates test cases automatically </a:t>
            </a:r>
          </a:p>
          <a:p>
            <a:pPr lvl="2"/>
            <a:r>
              <a:rPr lang="en-IN" dirty="0"/>
              <a:t>Identifies edge cases humans miss </a:t>
            </a:r>
          </a:p>
          <a:p>
            <a:pPr lvl="2"/>
            <a:r>
              <a:rPr lang="en-IN" dirty="0"/>
              <a:t>Simulates user </a:t>
            </a:r>
            <a:r>
              <a:rPr lang="en-IN" dirty="0" err="1"/>
              <a:t>behavior</a:t>
            </a:r>
            <a:r>
              <a:rPr lang="en-IN" dirty="0"/>
              <a:t> </a:t>
            </a:r>
          </a:p>
          <a:p>
            <a:pPr lvl="2"/>
            <a:r>
              <a:rPr lang="en-IN" dirty="0"/>
              <a:t>Detects anomalies </a:t>
            </a:r>
          </a:p>
          <a:p>
            <a:pPr lvl="2"/>
            <a:endParaRPr lang="en-IN" dirty="0"/>
          </a:p>
          <a:p>
            <a:pPr lvl="2"/>
            <a:r>
              <a:rPr lang="en-IN" b="1" dirty="0"/>
              <a:t>Example</a:t>
            </a:r>
          </a:p>
          <a:p>
            <a:pPr lvl="3"/>
            <a:r>
              <a:rPr lang="en-IN" b="1" dirty="0"/>
              <a:t>E-commerce checkout system</a:t>
            </a:r>
            <a:endParaRPr lang="en-IN" dirty="0"/>
          </a:p>
          <a:p>
            <a:pPr lvl="3"/>
            <a:r>
              <a:rPr lang="en-IN" dirty="0"/>
              <a:t>AI tests: </a:t>
            </a:r>
          </a:p>
          <a:p>
            <a:pPr lvl="4"/>
            <a:r>
              <a:rPr lang="en-IN" dirty="0"/>
              <a:t>Payment failures </a:t>
            </a:r>
          </a:p>
          <a:p>
            <a:pPr lvl="4"/>
            <a:r>
              <a:rPr lang="en-IN" dirty="0"/>
              <a:t>Invalid inputs </a:t>
            </a:r>
          </a:p>
          <a:p>
            <a:pPr lvl="4"/>
            <a:r>
              <a:rPr lang="en-IN" dirty="0"/>
              <a:t>High traffic scenarios </a:t>
            </a:r>
          </a:p>
          <a:p>
            <a:pPr lvl="3"/>
            <a:r>
              <a:rPr lang="en-IN" dirty="0"/>
              <a:t>Much broader coverage than manual QA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36388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065B2-74E6-8EF5-AB6D-864D284AA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34654-F0F2-6539-DC31-55E685F1D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Evolution: Dev, QA, Architect, PM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4B044-A447-656C-6C18-B9B279B89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Developer → AI-Augmented Engineer</a:t>
            </a:r>
          </a:p>
          <a:p>
            <a:pPr lvl="1"/>
            <a:r>
              <a:rPr lang="en-US" b="1" dirty="0"/>
              <a:t>Before</a:t>
            </a:r>
          </a:p>
          <a:p>
            <a:pPr lvl="2"/>
            <a:r>
              <a:rPr lang="en-US" dirty="0"/>
              <a:t>Writes code manually </a:t>
            </a:r>
          </a:p>
          <a:p>
            <a:pPr lvl="1"/>
            <a:r>
              <a:rPr lang="en-US" b="1" dirty="0"/>
              <a:t>After</a:t>
            </a:r>
          </a:p>
          <a:p>
            <a:pPr lvl="2"/>
            <a:r>
              <a:rPr lang="en-US" dirty="0"/>
              <a:t>Guides AI to generate code </a:t>
            </a:r>
          </a:p>
          <a:p>
            <a:pPr lvl="2"/>
            <a:r>
              <a:rPr lang="en-US" dirty="0"/>
              <a:t>Reviews and integrates outputs </a:t>
            </a:r>
          </a:p>
          <a:p>
            <a:pPr lvl="2"/>
            <a:r>
              <a:rPr lang="en-US" dirty="0"/>
              <a:t>Focuses on logic and architecture</a:t>
            </a:r>
          </a:p>
          <a:p>
            <a:endParaRPr lang="en-US" b="1" dirty="0"/>
          </a:p>
          <a:p>
            <a:r>
              <a:rPr lang="en-US" b="1" dirty="0"/>
              <a:t>QA → Quality Strategist</a:t>
            </a:r>
          </a:p>
          <a:p>
            <a:pPr lvl="1"/>
            <a:r>
              <a:rPr lang="en-US" b="1" dirty="0"/>
              <a:t>Before</a:t>
            </a:r>
          </a:p>
          <a:p>
            <a:pPr lvl="2"/>
            <a:r>
              <a:rPr lang="en-US" dirty="0"/>
              <a:t>Writes test cases </a:t>
            </a:r>
          </a:p>
          <a:p>
            <a:pPr lvl="2"/>
            <a:r>
              <a:rPr lang="en-US" dirty="0"/>
              <a:t>Executes manual testing </a:t>
            </a:r>
          </a:p>
          <a:p>
            <a:pPr lvl="1"/>
            <a:r>
              <a:rPr lang="en-US" b="1" dirty="0"/>
              <a:t>After</a:t>
            </a:r>
          </a:p>
          <a:p>
            <a:pPr lvl="2"/>
            <a:r>
              <a:rPr lang="en-US" dirty="0"/>
              <a:t>Defines test strategy </a:t>
            </a:r>
          </a:p>
          <a:p>
            <a:pPr lvl="2"/>
            <a:r>
              <a:rPr lang="en-US" dirty="0"/>
              <a:t>Validates AI-generated test coverage </a:t>
            </a:r>
          </a:p>
          <a:p>
            <a:pPr lvl="2"/>
            <a:r>
              <a:rPr lang="en-US" dirty="0"/>
              <a:t>Focuses on risk areas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07375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C7003-28C6-4CC2-34B5-98C554998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D468F-30A0-8721-6733-8459F5B0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Evolution: Dev, QA, Architect, PM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2A66C-F5EF-1FBC-4A9E-A8CB45A92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Architect → AI-Orchestrator</a:t>
            </a:r>
          </a:p>
          <a:p>
            <a:pPr lvl="1"/>
            <a:r>
              <a:rPr lang="en-US" b="1" dirty="0"/>
              <a:t>Before</a:t>
            </a:r>
          </a:p>
          <a:p>
            <a:pPr lvl="2"/>
            <a:r>
              <a:rPr lang="en-US" dirty="0"/>
              <a:t>Designs systems </a:t>
            </a:r>
          </a:p>
          <a:p>
            <a:pPr lvl="1"/>
            <a:r>
              <a:rPr lang="en-US" b="1" dirty="0"/>
              <a:t>After</a:t>
            </a:r>
          </a:p>
          <a:p>
            <a:pPr lvl="2"/>
            <a:r>
              <a:rPr lang="en-US" dirty="0"/>
              <a:t>Designs: </a:t>
            </a:r>
          </a:p>
          <a:p>
            <a:pPr lvl="3"/>
            <a:r>
              <a:rPr lang="en-US" dirty="0"/>
              <a:t>Agent workflows </a:t>
            </a:r>
          </a:p>
          <a:p>
            <a:pPr lvl="3"/>
            <a:r>
              <a:rPr lang="en-US" dirty="0"/>
              <a:t>Tool integrations </a:t>
            </a:r>
          </a:p>
          <a:p>
            <a:pPr lvl="3"/>
            <a:r>
              <a:rPr lang="en-US" dirty="0"/>
              <a:t>Data flows </a:t>
            </a:r>
          </a:p>
          <a:p>
            <a:pPr lvl="2"/>
            <a:r>
              <a:rPr lang="en-US" dirty="0"/>
              <a:t>Decides where AI should/should not be used</a:t>
            </a:r>
          </a:p>
          <a:p>
            <a:endParaRPr lang="en-US" dirty="0"/>
          </a:p>
          <a:p>
            <a:r>
              <a:rPr lang="en-US" b="1" dirty="0"/>
              <a:t>Project Manager → AI-Enabled Delivery Leader</a:t>
            </a:r>
          </a:p>
          <a:p>
            <a:pPr lvl="1"/>
            <a:r>
              <a:rPr lang="en-US" b="1" dirty="0"/>
              <a:t>Before</a:t>
            </a:r>
          </a:p>
          <a:p>
            <a:pPr lvl="2"/>
            <a:r>
              <a:rPr lang="en-US" dirty="0"/>
              <a:t>Tracks timelines and tasks </a:t>
            </a:r>
          </a:p>
          <a:p>
            <a:pPr lvl="1"/>
            <a:r>
              <a:rPr lang="en-US" b="1" dirty="0"/>
              <a:t>After</a:t>
            </a:r>
          </a:p>
          <a:p>
            <a:pPr lvl="2"/>
            <a:r>
              <a:rPr lang="en-US" dirty="0"/>
              <a:t>Uses AI to: </a:t>
            </a:r>
          </a:p>
          <a:p>
            <a:pPr lvl="3"/>
            <a:r>
              <a:rPr lang="en-US" dirty="0"/>
              <a:t>Predict delays </a:t>
            </a:r>
          </a:p>
          <a:p>
            <a:pPr lvl="3"/>
            <a:r>
              <a:rPr lang="en-US" dirty="0"/>
              <a:t>Optimize resources </a:t>
            </a:r>
          </a:p>
          <a:p>
            <a:pPr lvl="3"/>
            <a:r>
              <a:rPr lang="en-US" dirty="0"/>
              <a:t>Automate reporting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6216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F8586-9C94-5045-C23B-15523657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D26E6-2DCA-9B5A-11A0-82586265A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Evolution: Dev, QA, Architect, PM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7B1C424-AA4B-1C57-FD74-C86F384A34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8640025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14041966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20507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Role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New Identity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8910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Developer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AI-Augmented Engineer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8640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QA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Quality Strategist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0205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Architect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AI-Orchestrator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9219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AI-Enabled Delivery Leader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5940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16538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22BBC-C6D1-1A89-B6FC-19B844C4E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526D6-7A42-CFAE-C77F-C7720DE2A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Outcomes &amp; Risks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7EF66-7869-5596-7B74-C2446E2EF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Outcomes:</a:t>
            </a:r>
          </a:p>
          <a:p>
            <a:pPr marL="457200" lvl="1" indent="0">
              <a:buNone/>
            </a:pPr>
            <a:r>
              <a:rPr lang="en-US" b="1" dirty="0"/>
              <a:t>1. Speed</a:t>
            </a:r>
            <a:endParaRPr lang="en-US" dirty="0"/>
          </a:p>
          <a:p>
            <a:pPr lvl="2"/>
            <a:r>
              <a:rPr lang="en-US" dirty="0"/>
              <a:t>Faster delivery cycles </a:t>
            </a:r>
          </a:p>
          <a:p>
            <a:pPr marL="457200" lvl="1" indent="0">
              <a:buNone/>
            </a:pPr>
            <a:r>
              <a:rPr lang="en-US" b="1" dirty="0"/>
              <a:t>2. Quality</a:t>
            </a:r>
            <a:endParaRPr lang="en-US" dirty="0"/>
          </a:p>
          <a:p>
            <a:pPr lvl="2"/>
            <a:r>
              <a:rPr lang="en-US" dirty="0"/>
              <a:t>Better testing and fewer defects </a:t>
            </a:r>
          </a:p>
          <a:p>
            <a:pPr marL="457200" lvl="1" indent="0">
              <a:buNone/>
            </a:pPr>
            <a:r>
              <a:rPr lang="en-US" b="1" dirty="0"/>
              <a:t>3. Productivity</a:t>
            </a:r>
            <a:endParaRPr lang="en-US" dirty="0"/>
          </a:p>
          <a:p>
            <a:pPr lvl="2"/>
            <a:r>
              <a:rPr lang="en-US" dirty="0"/>
              <a:t>Same team → higher output</a:t>
            </a:r>
          </a:p>
          <a:p>
            <a:endParaRPr lang="en-IN" b="1" dirty="0"/>
          </a:p>
          <a:p>
            <a:r>
              <a:rPr lang="en-IN" b="1" dirty="0"/>
              <a:t>Risks:</a:t>
            </a:r>
          </a:p>
          <a:p>
            <a:pPr lvl="1"/>
            <a:r>
              <a:rPr lang="en-US" dirty="0"/>
              <a:t>Over-reliance on AI outputs </a:t>
            </a:r>
          </a:p>
          <a:p>
            <a:pPr lvl="1"/>
            <a:r>
              <a:rPr lang="en-US" dirty="0"/>
              <a:t>Lack of governance </a:t>
            </a:r>
          </a:p>
          <a:p>
            <a:pPr lvl="1"/>
            <a:r>
              <a:rPr lang="en-US" dirty="0"/>
              <a:t>Skill gaps in teams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1635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DF836-4213-9A1D-2075-794D59FE2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96738-7C97-6783-3CC4-F5EC8CD43C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Map current SDLC → Agentic SDLC for BU</a:t>
            </a:r>
          </a:p>
          <a:p>
            <a:r>
              <a:rPr lang="en-US" dirty="0"/>
              <a:t>Identify changes in roles and workflows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29250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66804-B56F-083C-3F6B-0DF22CC1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952B5-46D9-5C09-0C9A-0DD2CD24B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79826-5E44-C184-8C42-0C25F6EB1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7775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2984</TotalTime>
  <Words>1007</Words>
  <Application>Microsoft Office PowerPoint</Application>
  <PresentationFormat>Widescreen</PresentationFormat>
  <Paragraphs>303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Neue Haas Grotesk Text Pro</vt:lpstr>
      <vt:lpstr>Office Theme</vt:lpstr>
      <vt:lpstr>1_Office Theme</vt:lpstr>
      <vt:lpstr>Agentic AI for Leaders</vt:lpstr>
      <vt:lpstr>Agentic AI &amp; ADLC</vt:lpstr>
      <vt:lpstr>Agentic Systems &amp; Workflows</vt:lpstr>
      <vt:lpstr>What are AI Agents?</vt:lpstr>
      <vt:lpstr>What are AI Agents?</vt:lpstr>
      <vt:lpstr>What are AI Agents?</vt:lpstr>
      <vt:lpstr>Agent Architecture: Planner–Executor Model</vt:lpstr>
      <vt:lpstr>Agent Architecture: Planner–Executor Model</vt:lpstr>
      <vt:lpstr>Multi-step Workflows and Tool Usage</vt:lpstr>
      <vt:lpstr>Multi-step Workflows and Tool Usage</vt:lpstr>
      <vt:lpstr>Enterprise Use Cases of Agentic Workflows</vt:lpstr>
      <vt:lpstr>Enterprise Use Cases of Agentic Workflows</vt:lpstr>
      <vt:lpstr>Demo</vt:lpstr>
      <vt:lpstr>Agent-Driven Lifecycle (ADLC)</vt:lpstr>
      <vt:lpstr>How to Tie This to ADLC</vt:lpstr>
      <vt:lpstr>SDLC → Agent-Driven Lifecycle (ADLC)</vt:lpstr>
      <vt:lpstr>SDLC → Agent-Driven Lifecycle (ADLC)</vt:lpstr>
      <vt:lpstr>AI in Planning, Development, Testing</vt:lpstr>
      <vt:lpstr>AI in Planning, Development, Testing</vt:lpstr>
      <vt:lpstr>AI in Planning, Development, Testing</vt:lpstr>
      <vt:lpstr>Role Evolution: Dev, QA, Architect, PM</vt:lpstr>
      <vt:lpstr>Role Evolution: Dev, QA, Architect, PM</vt:lpstr>
      <vt:lpstr>Role Evolution: Dev, QA, Architect, PM</vt:lpstr>
      <vt:lpstr>Outcomes &amp; Risks</vt:lpstr>
      <vt:lpstr>Exercise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Ajay Singala</dc:creator>
  <cp:lastModifiedBy>Ajay Singala</cp:lastModifiedBy>
  <cp:revision>44</cp:revision>
  <dcterms:created xsi:type="dcterms:W3CDTF">2026-04-01T13:32:53Z</dcterms:created>
  <dcterms:modified xsi:type="dcterms:W3CDTF">2026-05-13T15:20:33Z</dcterms:modified>
</cp:coreProperties>
</file>