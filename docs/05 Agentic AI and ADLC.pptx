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60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95" r:id="rId16"/>
    <p:sldId id="273" r:id="rId17"/>
    <p:sldId id="261" r:id="rId18"/>
    <p:sldId id="276" r:id="rId19"/>
    <p:sldId id="287" r:id="rId20"/>
    <p:sldId id="291" r:id="rId21"/>
    <p:sldId id="292" r:id="rId22"/>
    <p:sldId id="288" r:id="rId23"/>
    <p:sldId id="293" r:id="rId24"/>
    <p:sldId id="294" r:id="rId25"/>
    <p:sldId id="289" r:id="rId26"/>
    <p:sldId id="29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for Leaders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Agentic AI &amp; ADLC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Agentic Systems &amp; Workflows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AA8-8BED-27D0-E5D5-9217A8D3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AI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F52-2AF7-4398-9F44-F5EF3315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AI agent is like a digital employee that can think, decide, and act, not just respond.</a:t>
            </a:r>
          </a:p>
          <a:p>
            <a:r>
              <a:rPr lang="en-US" b="1" dirty="0"/>
              <a:t>Core components</a:t>
            </a:r>
          </a:p>
          <a:p>
            <a:pPr marL="914400" lvl="1" indent="-457200">
              <a:buAutoNum type="arabicPeriod"/>
            </a:pPr>
            <a:r>
              <a:rPr lang="en-US" dirty="0"/>
              <a:t>Tasks (What to do)</a:t>
            </a:r>
          </a:p>
          <a:p>
            <a:pPr marL="914400" lvl="1" indent="-457200">
              <a:buAutoNum type="arabicPeriod"/>
            </a:pPr>
            <a:r>
              <a:rPr lang="en-US" dirty="0"/>
              <a:t>Tools (How to do it)</a:t>
            </a:r>
          </a:p>
          <a:p>
            <a:pPr marL="914400" lvl="1" indent="-457200">
              <a:buAutoNum type="arabicPeriod"/>
            </a:pPr>
            <a:r>
              <a:rPr lang="en-US" sz="2800" dirty="0"/>
              <a:t>Memory (What it remembers</a:t>
            </a:r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21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5B7E-22E0-085B-2421-7ED5B4ED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AE6D-48CD-5684-0CEA-57EF5010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AI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E11EE-495A-8495-96D9-00CBDE65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Tasks (What to do)</a:t>
            </a:r>
            <a:endParaRPr lang="en-US" dirty="0"/>
          </a:p>
          <a:p>
            <a:pPr lvl="1"/>
            <a:r>
              <a:rPr lang="en-US" dirty="0"/>
              <a:t>The goal or objective given to the agent 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“Analyze customer churn” </a:t>
            </a:r>
          </a:p>
          <a:p>
            <a:pPr lvl="2"/>
            <a:r>
              <a:rPr lang="en-US" dirty="0"/>
              <a:t>“Create a marketing campaign”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2. Tools (How to do it)</a:t>
            </a:r>
            <a:endParaRPr lang="en-US" dirty="0"/>
          </a:p>
          <a:p>
            <a:pPr lvl="1"/>
            <a:r>
              <a:rPr lang="en-US" dirty="0"/>
              <a:t>External capabilities the agent can use </a:t>
            </a:r>
          </a:p>
          <a:p>
            <a:pPr lvl="1"/>
            <a:r>
              <a:rPr lang="en-US" dirty="0"/>
              <a:t>Examples: </a:t>
            </a:r>
          </a:p>
          <a:p>
            <a:pPr lvl="2"/>
            <a:r>
              <a:rPr lang="en-US" dirty="0"/>
              <a:t>CRM system </a:t>
            </a:r>
          </a:p>
          <a:p>
            <a:pPr lvl="2"/>
            <a:r>
              <a:rPr lang="en-US" dirty="0"/>
              <a:t>Excel / database </a:t>
            </a:r>
          </a:p>
          <a:p>
            <a:pPr lvl="2"/>
            <a:r>
              <a:rPr lang="en-US" dirty="0"/>
              <a:t>APIs (weather, fraud detection, pricing)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3. Memory (What it remembers)</a:t>
            </a:r>
            <a:endParaRPr lang="en-US" dirty="0"/>
          </a:p>
          <a:p>
            <a:pPr lvl="1"/>
            <a:r>
              <a:rPr lang="en-US" dirty="0"/>
              <a:t>Context across steps or conversations </a:t>
            </a:r>
          </a:p>
          <a:p>
            <a:pPr lvl="1"/>
            <a:r>
              <a:rPr lang="en-US" dirty="0"/>
              <a:t>Types (keep high-level): </a:t>
            </a:r>
          </a:p>
          <a:p>
            <a:pPr lvl="2"/>
            <a:r>
              <a:rPr lang="en-US" dirty="0"/>
              <a:t>Short-term: current task context </a:t>
            </a:r>
          </a:p>
          <a:p>
            <a:pPr lvl="2"/>
            <a:r>
              <a:rPr lang="en-US" dirty="0"/>
              <a:t>Long-term: past interactions, preferences</a:t>
            </a:r>
          </a:p>
        </p:txBody>
      </p:sp>
    </p:spTree>
    <p:extLst>
      <p:ext uri="{BB962C8B-B14F-4D97-AF65-F5344CB8AC3E}">
        <p14:creationId xmlns:p14="http://schemas.microsoft.com/office/powerpoint/2010/main" val="181043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0A4B-5BB6-3C35-FD7C-AC047C18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619E-061F-54E5-EDA5-9035E618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AI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C7B6-BD00-0027-34B3-DD98D45D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b="1" dirty="0"/>
              <a:t>Insurance Claims Agent</a:t>
            </a:r>
            <a:endParaRPr lang="en-US" dirty="0"/>
          </a:p>
          <a:p>
            <a:pPr lvl="2"/>
            <a:r>
              <a:rPr lang="en-US" dirty="0"/>
              <a:t>Task: Process a claim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Tools: </a:t>
            </a:r>
          </a:p>
          <a:p>
            <a:pPr lvl="3"/>
            <a:r>
              <a:rPr lang="en-US" dirty="0"/>
              <a:t>Policy database </a:t>
            </a:r>
          </a:p>
          <a:p>
            <a:pPr lvl="3"/>
            <a:r>
              <a:rPr lang="en-US" dirty="0"/>
              <a:t>Fraud detection API </a:t>
            </a:r>
          </a:p>
          <a:p>
            <a:pPr lvl="3"/>
            <a:r>
              <a:rPr lang="en-US" dirty="0"/>
              <a:t>Document reader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Memory: </a:t>
            </a:r>
          </a:p>
          <a:p>
            <a:pPr lvl="3"/>
            <a:r>
              <a:rPr lang="en-US" dirty="0"/>
              <a:t>Past claims of the customer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2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0451-36EC-C06C-1B72-47303A8B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Architecture: Planner–Executor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F734-939B-3887-645C-6FCC784C2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</a:t>
            </a:r>
          </a:p>
          <a:p>
            <a:pPr marL="457200" lvl="1" indent="0">
              <a:buNone/>
            </a:pPr>
            <a:r>
              <a:rPr lang="en-US" b="1" dirty="0"/>
              <a:t>1. Planner (Brain)</a:t>
            </a:r>
            <a:endParaRPr lang="en-US" dirty="0"/>
          </a:p>
          <a:p>
            <a:pPr lvl="2"/>
            <a:r>
              <a:rPr lang="en-US" dirty="0"/>
              <a:t>Breaks a goal into steps </a:t>
            </a:r>
          </a:p>
          <a:p>
            <a:pPr lvl="2"/>
            <a:r>
              <a:rPr lang="en-US" dirty="0"/>
              <a:t>Decides </a:t>
            </a:r>
            <a:r>
              <a:rPr lang="en-US" i="1" dirty="0"/>
              <a:t>what to do next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2. Executor (Doer)</a:t>
            </a:r>
            <a:endParaRPr lang="en-US" dirty="0"/>
          </a:p>
          <a:p>
            <a:pPr lvl="2"/>
            <a:r>
              <a:rPr lang="en-US" dirty="0"/>
              <a:t>Executes each step </a:t>
            </a:r>
          </a:p>
          <a:p>
            <a:pPr lvl="2"/>
            <a:r>
              <a:rPr lang="en-US" dirty="0"/>
              <a:t>Calls tools, fetches data, performs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11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C89F-D266-164F-A1F2-DDAA268D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8664-95BF-1A88-8A39-85481D78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Architecture: Planner–Executor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2132-B24B-E9E8-F1E5-89B0CDDB7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 “Launch a new product campaign”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Planner decides:</a:t>
            </a:r>
            <a:endParaRPr lang="en-US" dirty="0"/>
          </a:p>
          <a:p>
            <a:pPr lvl="2"/>
            <a:r>
              <a:rPr lang="en-US" dirty="0"/>
              <a:t>Analyze target audience </a:t>
            </a:r>
          </a:p>
          <a:p>
            <a:pPr lvl="2"/>
            <a:r>
              <a:rPr lang="en-US" dirty="0"/>
              <a:t>Generate campaign ideas </a:t>
            </a:r>
          </a:p>
          <a:p>
            <a:pPr lvl="2"/>
            <a:r>
              <a:rPr lang="en-US" dirty="0"/>
              <a:t>Create content </a:t>
            </a:r>
          </a:p>
          <a:p>
            <a:pPr lvl="2"/>
            <a:r>
              <a:rPr lang="en-US" dirty="0"/>
              <a:t>Schedule posts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Executor does:</a:t>
            </a:r>
            <a:endParaRPr lang="en-US" dirty="0"/>
          </a:p>
          <a:p>
            <a:pPr lvl="2"/>
            <a:r>
              <a:rPr lang="en-US" dirty="0"/>
              <a:t>Pulls data from CRM </a:t>
            </a:r>
          </a:p>
          <a:p>
            <a:pPr lvl="2"/>
            <a:r>
              <a:rPr lang="en-US" dirty="0"/>
              <a:t>Uses content generation tool </a:t>
            </a:r>
          </a:p>
          <a:p>
            <a:pPr lvl="2"/>
            <a:r>
              <a:rPr lang="en-US" dirty="0"/>
              <a:t>Uses scheduling tool</a:t>
            </a:r>
          </a:p>
        </p:txBody>
      </p:sp>
    </p:spTree>
    <p:extLst>
      <p:ext uri="{BB962C8B-B14F-4D97-AF65-F5344CB8AC3E}">
        <p14:creationId xmlns:p14="http://schemas.microsoft.com/office/powerpoint/2010/main" val="11131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83AE-A5DA-E227-C8D0-362C2F43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Multi-step Workflows and Tool Usage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67377-440E-C675-896D-47A4C766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Unlike ChatGPT answering one question, agents complete </a:t>
            </a:r>
            <a:r>
              <a:rPr lang="en-US" i="1" dirty="0"/>
              <a:t>entire workflows</a:t>
            </a:r>
            <a:r>
              <a:rPr lang="en-US" dirty="0"/>
              <a:t>.</a:t>
            </a:r>
          </a:p>
          <a:p>
            <a:r>
              <a:rPr lang="en-US" dirty="0"/>
              <a:t>Not one prompt -&gt; </a:t>
            </a:r>
            <a:r>
              <a:rPr lang="en-US" b="1" dirty="0"/>
              <a:t>Multiple steps + decisions + tools</a:t>
            </a:r>
            <a:endParaRPr lang="en-US" dirty="0"/>
          </a:p>
          <a:p>
            <a:endParaRPr lang="en-IN" b="1" dirty="0"/>
          </a:p>
          <a:p>
            <a:r>
              <a:rPr lang="en-IN" b="1" dirty="0"/>
              <a:t>Example 1: Finance</a:t>
            </a:r>
          </a:p>
          <a:p>
            <a:pPr lvl="1"/>
            <a:r>
              <a:rPr lang="en-IN" b="1" dirty="0"/>
              <a:t>Task:</a:t>
            </a:r>
            <a:r>
              <a:rPr lang="en-IN" dirty="0"/>
              <a:t> Monthly financial reporting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Steps:</a:t>
            </a:r>
          </a:p>
          <a:p>
            <a:pPr lvl="2"/>
            <a:r>
              <a:rPr lang="en-IN" dirty="0"/>
              <a:t>Pull data from ERP </a:t>
            </a:r>
          </a:p>
          <a:p>
            <a:pPr lvl="2"/>
            <a:r>
              <a:rPr lang="en-IN" dirty="0"/>
              <a:t>Clean and validate data </a:t>
            </a:r>
          </a:p>
          <a:p>
            <a:pPr lvl="2"/>
            <a:r>
              <a:rPr lang="en-IN" dirty="0"/>
              <a:t>Generate summary insights </a:t>
            </a:r>
          </a:p>
          <a:p>
            <a:pPr lvl="2"/>
            <a:r>
              <a:rPr lang="en-IN" dirty="0"/>
              <a:t>Highlight anomalies </a:t>
            </a:r>
          </a:p>
          <a:p>
            <a:pPr lvl="2"/>
            <a:r>
              <a:rPr lang="en-IN" dirty="0"/>
              <a:t>Create presentation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Tools used:</a:t>
            </a:r>
          </a:p>
          <a:p>
            <a:pPr lvl="2"/>
            <a:r>
              <a:rPr lang="en-IN" dirty="0"/>
              <a:t>ERP system </a:t>
            </a:r>
          </a:p>
          <a:p>
            <a:pPr lvl="2"/>
            <a:r>
              <a:rPr lang="en-IN" dirty="0"/>
              <a:t>Excel / data processing </a:t>
            </a:r>
          </a:p>
          <a:p>
            <a:pPr lvl="2"/>
            <a:r>
              <a:rPr lang="en-IN" dirty="0"/>
              <a:t>LLM for insights </a:t>
            </a:r>
          </a:p>
          <a:p>
            <a:pPr lvl="2"/>
            <a:r>
              <a:rPr lang="en-IN" dirty="0"/>
              <a:t>PowerPoint generator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28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2895-71F1-18C4-922A-87A30E47B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EC57-83E3-4EE9-A80C-17B5554F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Multi-step Workflows and Tool Usage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EA80-4422-15D5-B1FD-872602266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2: Customer Support</a:t>
            </a:r>
          </a:p>
          <a:p>
            <a:pPr lvl="1"/>
            <a:r>
              <a:rPr lang="en-US" b="1" dirty="0"/>
              <a:t>Task:</a:t>
            </a:r>
            <a:r>
              <a:rPr lang="en-US" dirty="0"/>
              <a:t> Resolve a customer complaint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Steps:</a:t>
            </a:r>
          </a:p>
          <a:p>
            <a:pPr lvl="2"/>
            <a:r>
              <a:rPr lang="en-US" dirty="0"/>
              <a:t>Read customer email </a:t>
            </a:r>
          </a:p>
          <a:p>
            <a:pPr lvl="2"/>
            <a:r>
              <a:rPr lang="en-US" dirty="0"/>
              <a:t>Retrieve order details </a:t>
            </a:r>
          </a:p>
          <a:p>
            <a:pPr lvl="2"/>
            <a:r>
              <a:rPr lang="en-US" dirty="0"/>
              <a:t>Check refund policy </a:t>
            </a:r>
          </a:p>
          <a:p>
            <a:pPr lvl="2"/>
            <a:r>
              <a:rPr lang="en-US" dirty="0"/>
              <a:t>Decide action </a:t>
            </a:r>
          </a:p>
          <a:p>
            <a:pPr lvl="2"/>
            <a:r>
              <a:rPr lang="en-US" dirty="0"/>
              <a:t>Respond to customer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6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E6C9-E3BE-F5BB-A651-61001159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Use Cases of Agentic Workflows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64C46-6ED3-4534-2DF6-2BF2DD9DD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Operations Automation</a:t>
            </a:r>
          </a:p>
          <a:p>
            <a:pPr lvl="1"/>
            <a:r>
              <a:rPr lang="en-IN" b="1" dirty="0"/>
              <a:t>Example: Invoice Processing</a:t>
            </a:r>
            <a:endParaRPr lang="en-IN" dirty="0"/>
          </a:p>
          <a:p>
            <a:pPr lvl="2"/>
            <a:r>
              <a:rPr lang="en-IN" dirty="0"/>
              <a:t>Read invoice </a:t>
            </a:r>
          </a:p>
          <a:p>
            <a:pPr lvl="2"/>
            <a:r>
              <a:rPr lang="en-IN" dirty="0"/>
              <a:t>Match with PO </a:t>
            </a:r>
          </a:p>
          <a:p>
            <a:pPr lvl="2"/>
            <a:r>
              <a:rPr lang="en-IN" dirty="0"/>
              <a:t>Flag discrepancies </a:t>
            </a:r>
          </a:p>
          <a:p>
            <a:pPr lvl="2"/>
            <a:r>
              <a:rPr lang="en-IN" dirty="0"/>
              <a:t>Update system </a:t>
            </a:r>
          </a:p>
          <a:p>
            <a:pPr lvl="1"/>
            <a:r>
              <a:rPr lang="en-IN" dirty="0"/>
              <a:t>Outcome:</a:t>
            </a:r>
          </a:p>
          <a:p>
            <a:pPr lvl="2"/>
            <a:r>
              <a:rPr lang="en-IN" dirty="0"/>
              <a:t>Faster processing </a:t>
            </a:r>
          </a:p>
          <a:p>
            <a:pPr lvl="2"/>
            <a:r>
              <a:rPr lang="en-IN" dirty="0"/>
              <a:t>Reduced manual errors </a:t>
            </a:r>
          </a:p>
          <a:p>
            <a:endParaRPr lang="en-IN" dirty="0"/>
          </a:p>
          <a:p>
            <a:r>
              <a:rPr lang="en-IN" b="1" dirty="0"/>
              <a:t>IT &amp; Engineering</a:t>
            </a:r>
          </a:p>
          <a:p>
            <a:pPr lvl="1"/>
            <a:r>
              <a:rPr lang="en-IN" b="1" dirty="0"/>
              <a:t>Example: Incident Management</a:t>
            </a:r>
            <a:endParaRPr lang="en-IN" dirty="0"/>
          </a:p>
          <a:p>
            <a:pPr lvl="2"/>
            <a:r>
              <a:rPr lang="en-IN" dirty="0"/>
              <a:t>Detect issue </a:t>
            </a:r>
          </a:p>
          <a:p>
            <a:pPr lvl="2"/>
            <a:r>
              <a:rPr lang="en-IN" dirty="0" err="1"/>
              <a:t>Analyze</a:t>
            </a:r>
            <a:r>
              <a:rPr lang="en-IN" dirty="0"/>
              <a:t> logs </a:t>
            </a:r>
          </a:p>
          <a:p>
            <a:pPr lvl="2"/>
            <a:r>
              <a:rPr lang="en-IN" dirty="0"/>
              <a:t>Suggest fix </a:t>
            </a:r>
          </a:p>
          <a:p>
            <a:pPr lvl="2"/>
            <a:r>
              <a:rPr lang="en-IN" dirty="0"/>
              <a:t>Trigger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21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8D07-01C5-56EB-5B7C-D4453650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169E-2A64-D71C-6474-EBC2CA87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Use Cases of Agentic Workflows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4738-4F43-EAE4-1963-F4F65D0D6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Sales &amp; Marketing</a:t>
            </a:r>
          </a:p>
          <a:p>
            <a:pPr lvl="1"/>
            <a:r>
              <a:rPr lang="en-IN" b="1" dirty="0"/>
              <a:t>Example: Lead Nurturing Agent</a:t>
            </a:r>
            <a:endParaRPr lang="en-IN" dirty="0"/>
          </a:p>
          <a:p>
            <a:pPr lvl="2"/>
            <a:r>
              <a:rPr lang="en-IN" dirty="0" err="1"/>
              <a:t>Analyze</a:t>
            </a:r>
            <a:r>
              <a:rPr lang="en-IN" dirty="0"/>
              <a:t> lead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Send personalized emails </a:t>
            </a:r>
          </a:p>
          <a:p>
            <a:pPr lvl="2"/>
            <a:r>
              <a:rPr lang="en-IN" dirty="0"/>
              <a:t>Schedule follow-ups </a:t>
            </a:r>
          </a:p>
          <a:p>
            <a:pPr lvl="1"/>
            <a:r>
              <a:rPr lang="en-IN" dirty="0"/>
              <a:t>Outcome:</a:t>
            </a:r>
          </a:p>
          <a:p>
            <a:pPr lvl="2"/>
            <a:r>
              <a:rPr lang="en-IN" dirty="0"/>
              <a:t>Higher conversion </a:t>
            </a:r>
          </a:p>
          <a:p>
            <a:pPr lvl="2"/>
            <a:r>
              <a:rPr lang="en-IN" dirty="0"/>
              <a:t>Scalable personalization </a:t>
            </a:r>
          </a:p>
          <a:p>
            <a:endParaRPr lang="en-IN" dirty="0"/>
          </a:p>
          <a:p>
            <a:r>
              <a:rPr lang="en-IN" b="1" dirty="0"/>
              <a:t>BFSI / Insurance</a:t>
            </a:r>
          </a:p>
          <a:p>
            <a:pPr lvl="1"/>
            <a:r>
              <a:rPr lang="en-IN" b="1" dirty="0"/>
              <a:t>Example: Claims Processing</a:t>
            </a:r>
            <a:endParaRPr lang="en-IN" dirty="0"/>
          </a:p>
          <a:p>
            <a:pPr lvl="2"/>
            <a:r>
              <a:rPr lang="en-IN" dirty="0"/>
              <a:t>Extract claim details </a:t>
            </a:r>
          </a:p>
          <a:p>
            <a:pPr lvl="2"/>
            <a:r>
              <a:rPr lang="en-IN" dirty="0"/>
              <a:t>Validate policy </a:t>
            </a:r>
          </a:p>
          <a:p>
            <a:pPr lvl="2"/>
            <a:r>
              <a:rPr lang="en-IN" dirty="0"/>
              <a:t>Detect fraud </a:t>
            </a:r>
          </a:p>
          <a:p>
            <a:pPr lvl="2"/>
            <a:r>
              <a:rPr lang="en-IN" dirty="0"/>
              <a:t>Approve/reject</a:t>
            </a:r>
          </a:p>
          <a:p>
            <a:endParaRPr lang="en-US" b="1" dirty="0"/>
          </a:p>
          <a:p>
            <a:r>
              <a:rPr lang="en-US" b="1" dirty="0"/>
              <a:t>Internal Audit / Compliance</a:t>
            </a:r>
          </a:p>
          <a:p>
            <a:pPr lvl="1"/>
            <a:r>
              <a:rPr lang="en-US" b="1" dirty="0"/>
              <a:t>Example: Audit Assistant Agent</a:t>
            </a:r>
            <a:endParaRPr lang="en-US" dirty="0"/>
          </a:p>
          <a:p>
            <a:pPr lvl="2"/>
            <a:r>
              <a:rPr lang="en-US" dirty="0"/>
              <a:t>Read policies </a:t>
            </a:r>
          </a:p>
          <a:p>
            <a:pPr lvl="2"/>
            <a:r>
              <a:rPr lang="en-US" dirty="0"/>
              <a:t>Check transactions </a:t>
            </a:r>
          </a:p>
          <a:p>
            <a:pPr lvl="2"/>
            <a:r>
              <a:rPr lang="en-US" dirty="0"/>
              <a:t>Identify exceptions </a:t>
            </a:r>
          </a:p>
          <a:p>
            <a:pPr lvl="2"/>
            <a:r>
              <a:rPr lang="en-US" dirty="0"/>
              <a:t>Generate audit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118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422-742E-76E4-3D2A-7D48CAC72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Tie This to ADLC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B57F-7042-8576-8F53-426E4293F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Agentic Development Lifecycle (ADLC)</a:t>
            </a:r>
          </a:p>
          <a:p>
            <a:endParaRPr lang="en-US" dirty="0"/>
          </a:p>
          <a:p>
            <a:r>
              <a:rPr lang="en-US" dirty="0"/>
              <a:t>Traditional SDLC vs Agentic ADLC: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BADE6-82A0-BDC5-5A2B-378372201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05304"/>
              </p:ext>
            </p:extLst>
          </p:nvPr>
        </p:nvGraphicFramePr>
        <p:xfrm>
          <a:off x="838200" y="3429000"/>
          <a:ext cx="105156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849777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2239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4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goals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08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Hard-coded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decision-making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689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909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065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Workflow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031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37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BE98-D43A-2AB0-23F5-59C41529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F528-6C96-2E7C-F08A-44A79F648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</a:t>
            </a:r>
          </a:p>
          <a:p>
            <a:r>
              <a:rPr lang="en-US" dirty="0"/>
              <a:t>Extract insights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Agent Workflow – No Graph</a:t>
            </a:r>
          </a:p>
          <a:p>
            <a:r>
              <a:rPr lang="en-US" dirty="0"/>
              <a:t>Agent Workflow – Graph, Tools, Nodes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15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60591-FF6C-0AC3-0377-8CE9A21C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DC4742-3D24-FAE0-DDBF-4C813EE8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3C103-9948-FEF6-C6CB-380D247F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Agent-Driven Lifecycle (ADLC)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27205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BBAC-1227-A489-45E7-E9A968D5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SDLC → Agent-Driven Lifecycle (ADLC)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DF9D-F52E-1906-8D43-230BB940A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Traditional SDLC</a:t>
            </a:r>
            <a:endParaRPr lang="en-US" sz="2000" dirty="0"/>
          </a:p>
          <a:p>
            <a:pPr lvl="1"/>
            <a:r>
              <a:rPr lang="en-US" sz="1800" dirty="0"/>
              <a:t>Humans design, build, test, and deploy software. </a:t>
            </a:r>
          </a:p>
          <a:p>
            <a:pPr lvl="1"/>
            <a:r>
              <a:rPr lang="en-US" sz="1800" dirty="0"/>
              <a:t>AI plays little or no role.</a:t>
            </a:r>
          </a:p>
          <a:p>
            <a:r>
              <a:rPr lang="en-US" sz="2000" b="1" dirty="0"/>
              <a:t>Agent-Driven Lifecycle (ADLC)</a:t>
            </a:r>
            <a:endParaRPr lang="en-US" sz="2000" dirty="0"/>
          </a:p>
          <a:p>
            <a:pPr lvl="1"/>
            <a:r>
              <a:rPr lang="en-US" sz="1800" dirty="0"/>
              <a:t>Humans define goals. </a:t>
            </a:r>
          </a:p>
          <a:p>
            <a:pPr lvl="1"/>
            <a:r>
              <a:rPr lang="en-US" sz="1800" dirty="0"/>
              <a:t>AI agents </a:t>
            </a:r>
            <a:r>
              <a:rPr lang="en-US" sz="1800" i="1" dirty="0"/>
              <a:t>co-create, execute, and optimize</a:t>
            </a:r>
            <a:r>
              <a:rPr lang="en-US" sz="1800" dirty="0"/>
              <a:t> the lifecycle.</a:t>
            </a:r>
            <a:endParaRPr lang="en-US" sz="1600" dirty="0"/>
          </a:p>
          <a:p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82D618-6AFB-FBA9-BB5C-C85CC067D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92194"/>
              </p:ext>
            </p:extLst>
          </p:nvPr>
        </p:nvGraphicFramePr>
        <p:xfrm>
          <a:off x="838200" y="4117340"/>
          <a:ext cx="105156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3713043229"/>
                    </a:ext>
                  </a:extLst>
                </a:gridCol>
                <a:gridCol w="3698240">
                  <a:extLst>
                    <a:ext uri="{9D8B030D-6E8A-4147-A177-3AD203B41FA5}">
                      <a16:colId xmlns:a16="http://schemas.microsoft.com/office/drawing/2014/main" val="2771315584"/>
                    </a:ext>
                  </a:extLst>
                </a:gridCol>
                <a:gridCol w="5186680">
                  <a:extLst>
                    <a:ext uri="{9D8B030D-6E8A-4147-A177-3AD203B41FA5}">
                      <a16:colId xmlns:a16="http://schemas.microsoft.com/office/drawing/2014/main" val="2831033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SDLC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Agent-Driven Lifecycle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73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Requirements written manually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helps generate &amp; refine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92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Architects create designs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suggests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31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Developers write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co-generates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49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writes &amp; runs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generates &amp; executes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02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DevOps pipelines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monitors &amp; optimizes continuously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549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70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2355B-E841-4993-4196-ED667BA9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B0E4-69EE-4D52-A8FF-65C8DD4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SDLC → Agent-Driven Lifecycle (ADLC)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C024-13D3-4CB6-E2DA-C0544681A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Example</a:t>
            </a:r>
          </a:p>
          <a:p>
            <a:pPr lvl="1"/>
            <a:r>
              <a:rPr lang="en-IN" b="1" dirty="0"/>
              <a:t>Building a Loan Processing System</a:t>
            </a:r>
            <a:endParaRPr lang="en-IN" dirty="0"/>
          </a:p>
          <a:p>
            <a:pPr lvl="1"/>
            <a:endParaRPr lang="en-IN" dirty="0"/>
          </a:p>
          <a:p>
            <a:pPr lvl="2"/>
            <a:r>
              <a:rPr lang="en-IN" dirty="0"/>
              <a:t>SDLC: </a:t>
            </a:r>
          </a:p>
          <a:p>
            <a:pPr lvl="3"/>
            <a:r>
              <a:rPr lang="en-IN" dirty="0"/>
              <a:t>BA writes requirements </a:t>
            </a:r>
          </a:p>
          <a:p>
            <a:pPr lvl="3"/>
            <a:r>
              <a:rPr lang="en-IN" dirty="0"/>
              <a:t>Dev writes code </a:t>
            </a:r>
          </a:p>
          <a:p>
            <a:pPr lvl="3"/>
            <a:r>
              <a:rPr lang="en-IN" dirty="0"/>
              <a:t>QA tests </a:t>
            </a:r>
          </a:p>
          <a:p>
            <a:pPr lvl="2"/>
            <a:endParaRPr lang="en-IN" dirty="0"/>
          </a:p>
          <a:p>
            <a:pPr lvl="2"/>
            <a:r>
              <a:rPr lang="en-IN" dirty="0"/>
              <a:t>ADLC: </a:t>
            </a:r>
          </a:p>
          <a:p>
            <a:pPr lvl="3"/>
            <a:r>
              <a:rPr lang="en-IN" dirty="0"/>
              <a:t>AI drafts requirements from business input </a:t>
            </a:r>
          </a:p>
          <a:p>
            <a:pPr lvl="3"/>
            <a:r>
              <a:rPr lang="en-IN" dirty="0"/>
              <a:t>AI suggests architecture </a:t>
            </a:r>
          </a:p>
          <a:p>
            <a:pPr lvl="3"/>
            <a:r>
              <a:rPr lang="en-IN" dirty="0"/>
              <a:t>AI generates code </a:t>
            </a:r>
          </a:p>
          <a:p>
            <a:pPr lvl="3"/>
            <a:r>
              <a:rPr lang="en-IN" dirty="0"/>
              <a:t>AI tests edge cases automatically </a:t>
            </a:r>
          </a:p>
          <a:p>
            <a:pPr lvl="1"/>
            <a:r>
              <a:rPr lang="en-IN" dirty="0"/>
              <a:t>Human role becomes </a:t>
            </a:r>
            <a:r>
              <a:rPr lang="en-IN" b="1" dirty="0"/>
              <a:t>review +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988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1D36-256C-5E2B-7C96-25DB8E18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0E97-D166-D3BE-13CD-EE3FC90F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Planning, Development,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C7F7-F1E9-1B31-FFBD-3DF6ADDC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AI in Planning</a:t>
            </a:r>
          </a:p>
          <a:p>
            <a:pPr lvl="1"/>
            <a:r>
              <a:rPr lang="en-IN" b="1" dirty="0"/>
              <a:t>What AI does</a:t>
            </a:r>
          </a:p>
          <a:p>
            <a:pPr lvl="2"/>
            <a:r>
              <a:rPr lang="en-IN" dirty="0"/>
              <a:t>Converts ideas -&gt; structured requirements </a:t>
            </a:r>
          </a:p>
          <a:p>
            <a:pPr lvl="2"/>
            <a:r>
              <a:rPr lang="en-IN" dirty="0"/>
              <a:t>Identifies missing scenarios </a:t>
            </a:r>
          </a:p>
          <a:p>
            <a:pPr lvl="2"/>
            <a:r>
              <a:rPr lang="en-IN" dirty="0"/>
              <a:t>Suggests workflows </a:t>
            </a:r>
          </a:p>
          <a:p>
            <a:pPr lvl="2"/>
            <a:endParaRPr lang="en-IN" dirty="0"/>
          </a:p>
          <a:p>
            <a:pPr lvl="2"/>
            <a:r>
              <a:rPr lang="en-IN" b="1" dirty="0"/>
              <a:t>Example</a:t>
            </a:r>
          </a:p>
          <a:p>
            <a:pPr lvl="3"/>
            <a:r>
              <a:rPr lang="en-IN" b="1" dirty="0"/>
              <a:t>Input:</a:t>
            </a:r>
            <a:endParaRPr lang="en-IN" dirty="0"/>
          </a:p>
          <a:p>
            <a:pPr marL="1828800" lvl="4" indent="0">
              <a:buNone/>
            </a:pPr>
            <a:r>
              <a:rPr lang="en-IN" dirty="0"/>
              <a:t>“We need a system to reduce insurance fraud”</a:t>
            </a:r>
          </a:p>
          <a:p>
            <a:pPr lvl="3"/>
            <a:r>
              <a:rPr lang="en-IN" b="1" dirty="0"/>
              <a:t>AI helps with:</a:t>
            </a:r>
            <a:endParaRPr lang="en-IN" dirty="0"/>
          </a:p>
          <a:p>
            <a:pPr lvl="4"/>
            <a:r>
              <a:rPr lang="en-IN" dirty="0"/>
              <a:t>Defining user journeys </a:t>
            </a:r>
          </a:p>
          <a:p>
            <a:pPr lvl="4"/>
            <a:r>
              <a:rPr lang="en-IN" dirty="0"/>
              <a:t>Identifying fraud scenarios </a:t>
            </a:r>
          </a:p>
          <a:p>
            <a:pPr lvl="4"/>
            <a:r>
              <a:rPr lang="en-IN" dirty="0"/>
              <a:t>Suggesting data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879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D78C-AB40-62DD-F9DA-A2A07210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0B3A-439D-73E9-1C1B-F8EBC56D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Planning, Development,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C2AB-C5D4-772C-E946-368C3BA9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AI in Development</a:t>
            </a:r>
          </a:p>
          <a:p>
            <a:pPr lvl="1"/>
            <a:r>
              <a:rPr lang="en-US" b="1" dirty="0"/>
              <a:t>What AI does</a:t>
            </a:r>
          </a:p>
          <a:p>
            <a:pPr lvl="2"/>
            <a:r>
              <a:rPr lang="en-US" dirty="0"/>
              <a:t>Generates code </a:t>
            </a:r>
          </a:p>
          <a:p>
            <a:pPr lvl="2"/>
            <a:r>
              <a:rPr lang="en-US" dirty="0"/>
              <a:t>Suggests improvements </a:t>
            </a:r>
          </a:p>
          <a:p>
            <a:pPr lvl="2"/>
            <a:r>
              <a:rPr lang="en-US" dirty="0"/>
              <a:t>Integrates APIs </a:t>
            </a:r>
          </a:p>
          <a:p>
            <a:pPr lvl="2"/>
            <a:r>
              <a:rPr lang="en-US" dirty="0"/>
              <a:t>Refactors legacy systems </a:t>
            </a:r>
          </a:p>
          <a:p>
            <a:pPr lvl="2"/>
            <a:endParaRPr lang="en-US" dirty="0"/>
          </a:p>
          <a:p>
            <a:pPr lvl="2"/>
            <a:r>
              <a:rPr lang="en-US" b="1" dirty="0"/>
              <a:t>Example</a:t>
            </a:r>
          </a:p>
          <a:p>
            <a:pPr lvl="3"/>
            <a:r>
              <a:rPr lang="en-US" b="1" dirty="0"/>
              <a:t>Task:</a:t>
            </a:r>
            <a:r>
              <a:rPr lang="en-US" dirty="0"/>
              <a:t> Build customer onboarding flow</a:t>
            </a:r>
          </a:p>
          <a:p>
            <a:pPr lvl="3"/>
            <a:r>
              <a:rPr lang="en-US" dirty="0"/>
              <a:t>AI can:</a:t>
            </a:r>
          </a:p>
          <a:p>
            <a:pPr lvl="4"/>
            <a:r>
              <a:rPr lang="en-US" dirty="0"/>
              <a:t>Generate forms </a:t>
            </a:r>
          </a:p>
          <a:p>
            <a:pPr lvl="4"/>
            <a:r>
              <a:rPr lang="en-US" dirty="0"/>
              <a:t>Validate inputs </a:t>
            </a:r>
          </a:p>
          <a:p>
            <a:pPr lvl="4"/>
            <a:r>
              <a:rPr lang="en-US" dirty="0"/>
              <a:t>Connect to backend 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1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39D0B-41E9-EA9B-75E3-706C2163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9441-9DE4-8D56-6D64-B7461DDD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Planning, Development,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BDD4A-8204-B3E2-167F-FB82E680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AI in Testing</a:t>
            </a:r>
          </a:p>
          <a:p>
            <a:pPr lvl="1"/>
            <a:r>
              <a:rPr lang="en-IN" b="1" dirty="0"/>
              <a:t>What AI does</a:t>
            </a:r>
          </a:p>
          <a:p>
            <a:pPr lvl="2"/>
            <a:r>
              <a:rPr lang="en-IN" dirty="0"/>
              <a:t>Generates test cases automatically </a:t>
            </a:r>
          </a:p>
          <a:p>
            <a:pPr lvl="2"/>
            <a:r>
              <a:rPr lang="en-IN" dirty="0"/>
              <a:t>Identifies edge cases humans miss </a:t>
            </a:r>
          </a:p>
          <a:p>
            <a:pPr lvl="2"/>
            <a:r>
              <a:rPr lang="en-IN" dirty="0"/>
              <a:t>Simulates user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Detects anomalies </a:t>
            </a:r>
          </a:p>
          <a:p>
            <a:pPr lvl="2"/>
            <a:endParaRPr lang="en-IN" dirty="0"/>
          </a:p>
          <a:p>
            <a:pPr lvl="2"/>
            <a:r>
              <a:rPr lang="en-IN" b="1" dirty="0"/>
              <a:t>Example</a:t>
            </a:r>
          </a:p>
          <a:p>
            <a:pPr lvl="3"/>
            <a:r>
              <a:rPr lang="en-IN" b="1" dirty="0"/>
              <a:t>E-commerce checkout system</a:t>
            </a:r>
            <a:endParaRPr lang="en-IN" dirty="0"/>
          </a:p>
          <a:p>
            <a:pPr lvl="3"/>
            <a:r>
              <a:rPr lang="en-IN" dirty="0"/>
              <a:t>AI tests: </a:t>
            </a:r>
          </a:p>
          <a:p>
            <a:pPr lvl="4"/>
            <a:r>
              <a:rPr lang="en-IN" dirty="0"/>
              <a:t>Payment failures </a:t>
            </a:r>
          </a:p>
          <a:p>
            <a:pPr lvl="4"/>
            <a:r>
              <a:rPr lang="en-IN" dirty="0"/>
              <a:t>Invalid inputs </a:t>
            </a:r>
          </a:p>
          <a:p>
            <a:pPr lvl="4"/>
            <a:r>
              <a:rPr lang="en-IN" dirty="0"/>
              <a:t>High traffic scenarios </a:t>
            </a:r>
          </a:p>
          <a:p>
            <a:pPr lvl="3"/>
            <a:r>
              <a:rPr lang="en-IN" dirty="0"/>
              <a:t>Much broader coverage than manual QA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638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65B2-74E6-8EF5-AB6D-864D284A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4654-F0F2-6539-DC31-55E685F1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Evolution: Dev, QA, Architect, PM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B044-A447-656C-6C18-B9B279B8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Developer → AI-Augmented Engineer</a:t>
            </a:r>
          </a:p>
          <a:p>
            <a:pPr lvl="1"/>
            <a:r>
              <a:rPr lang="en-US" b="1" dirty="0"/>
              <a:t>Before</a:t>
            </a:r>
          </a:p>
          <a:p>
            <a:pPr lvl="2"/>
            <a:r>
              <a:rPr lang="en-US" dirty="0"/>
              <a:t>Writes code manually </a:t>
            </a:r>
          </a:p>
          <a:p>
            <a:pPr lvl="1"/>
            <a:r>
              <a:rPr lang="en-US" b="1" dirty="0"/>
              <a:t>After</a:t>
            </a:r>
          </a:p>
          <a:p>
            <a:pPr lvl="2"/>
            <a:r>
              <a:rPr lang="en-US" dirty="0"/>
              <a:t>Guides AI to generate code </a:t>
            </a:r>
          </a:p>
          <a:p>
            <a:pPr lvl="2"/>
            <a:r>
              <a:rPr lang="en-US" dirty="0"/>
              <a:t>Reviews and integrates outputs </a:t>
            </a:r>
          </a:p>
          <a:p>
            <a:pPr lvl="2"/>
            <a:r>
              <a:rPr lang="en-US" dirty="0"/>
              <a:t>Focuses on logic and architecture</a:t>
            </a:r>
          </a:p>
          <a:p>
            <a:endParaRPr lang="en-US" b="1" dirty="0"/>
          </a:p>
          <a:p>
            <a:r>
              <a:rPr lang="en-US" b="1" dirty="0"/>
              <a:t>QA → Quality Strategist</a:t>
            </a:r>
          </a:p>
          <a:p>
            <a:pPr lvl="1"/>
            <a:r>
              <a:rPr lang="en-US" b="1" dirty="0"/>
              <a:t>Before</a:t>
            </a:r>
          </a:p>
          <a:p>
            <a:pPr lvl="2"/>
            <a:r>
              <a:rPr lang="en-US" dirty="0"/>
              <a:t>Writes test cases </a:t>
            </a:r>
          </a:p>
          <a:p>
            <a:pPr lvl="2"/>
            <a:r>
              <a:rPr lang="en-US" dirty="0"/>
              <a:t>Executes manual testing </a:t>
            </a:r>
          </a:p>
          <a:p>
            <a:pPr lvl="1"/>
            <a:r>
              <a:rPr lang="en-US" b="1" dirty="0"/>
              <a:t>After</a:t>
            </a:r>
          </a:p>
          <a:p>
            <a:pPr lvl="2"/>
            <a:r>
              <a:rPr lang="en-US" dirty="0"/>
              <a:t>Defines test strategy </a:t>
            </a:r>
          </a:p>
          <a:p>
            <a:pPr lvl="2"/>
            <a:r>
              <a:rPr lang="en-US" dirty="0"/>
              <a:t>Validates AI-generated test coverage </a:t>
            </a:r>
          </a:p>
          <a:p>
            <a:pPr lvl="2"/>
            <a:r>
              <a:rPr lang="en-US" dirty="0"/>
              <a:t>Focuses on risk areas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737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7003-28C6-4CC2-34B5-98C55499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468F-30A0-8721-6733-8459F5B0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Evolution: Dev, QA, Architect, PM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A66C-F5EF-1FBC-4A9E-A8CB45A92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Architect → AI-Orchestrator</a:t>
            </a:r>
          </a:p>
          <a:p>
            <a:pPr lvl="1"/>
            <a:r>
              <a:rPr lang="en-US" b="1" dirty="0"/>
              <a:t>Before</a:t>
            </a:r>
          </a:p>
          <a:p>
            <a:pPr lvl="2"/>
            <a:r>
              <a:rPr lang="en-US" dirty="0"/>
              <a:t>Designs systems </a:t>
            </a:r>
          </a:p>
          <a:p>
            <a:pPr lvl="1"/>
            <a:r>
              <a:rPr lang="en-US" b="1" dirty="0"/>
              <a:t>After</a:t>
            </a:r>
          </a:p>
          <a:p>
            <a:pPr lvl="2"/>
            <a:r>
              <a:rPr lang="en-US" dirty="0"/>
              <a:t>Designs: </a:t>
            </a:r>
          </a:p>
          <a:p>
            <a:pPr lvl="3"/>
            <a:r>
              <a:rPr lang="en-US" dirty="0"/>
              <a:t>Agent workflows </a:t>
            </a:r>
          </a:p>
          <a:p>
            <a:pPr lvl="3"/>
            <a:r>
              <a:rPr lang="en-US" dirty="0"/>
              <a:t>Tool integrations </a:t>
            </a:r>
          </a:p>
          <a:p>
            <a:pPr lvl="3"/>
            <a:r>
              <a:rPr lang="en-US" dirty="0"/>
              <a:t>Data flows </a:t>
            </a:r>
          </a:p>
          <a:p>
            <a:pPr lvl="2"/>
            <a:r>
              <a:rPr lang="en-US" dirty="0"/>
              <a:t>Decides where AI should/should not be used</a:t>
            </a:r>
          </a:p>
          <a:p>
            <a:endParaRPr lang="en-US" dirty="0"/>
          </a:p>
          <a:p>
            <a:r>
              <a:rPr lang="en-US" b="1" dirty="0"/>
              <a:t>Project Manager → AI-Enabled Delivery Leader</a:t>
            </a:r>
          </a:p>
          <a:p>
            <a:pPr lvl="1"/>
            <a:r>
              <a:rPr lang="en-US" b="1" dirty="0"/>
              <a:t>Before</a:t>
            </a:r>
          </a:p>
          <a:p>
            <a:pPr lvl="2"/>
            <a:r>
              <a:rPr lang="en-US" dirty="0"/>
              <a:t>Tracks timelines and tasks </a:t>
            </a:r>
          </a:p>
          <a:p>
            <a:pPr lvl="1"/>
            <a:r>
              <a:rPr lang="en-US" b="1" dirty="0"/>
              <a:t>After</a:t>
            </a:r>
          </a:p>
          <a:p>
            <a:pPr lvl="2"/>
            <a:r>
              <a:rPr lang="en-US" dirty="0"/>
              <a:t>Uses AI to: </a:t>
            </a:r>
          </a:p>
          <a:p>
            <a:pPr lvl="3"/>
            <a:r>
              <a:rPr lang="en-US" dirty="0"/>
              <a:t>Predict delays </a:t>
            </a:r>
          </a:p>
          <a:p>
            <a:pPr lvl="3"/>
            <a:r>
              <a:rPr lang="en-US" dirty="0"/>
              <a:t>Optimize resources </a:t>
            </a:r>
          </a:p>
          <a:p>
            <a:pPr lvl="3"/>
            <a:r>
              <a:rPr lang="en-US" dirty="0"/>
              <a:t>Automate reporting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21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8586-9C94-5045-C23B-15523657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26E6-2DCA-9B5A-11A0-82586265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Evolution: Dev, QA, Architect, PM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B1C424-AA4B-1C57-FD74-C86F384A3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640025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404196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0507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Identity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91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AI-Augmented Engineer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640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 Strategist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205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AI-Orchestrator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921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AI-Enabled Delivery Leader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940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653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2BBC-C6D1-1A89-B6FC-19B844C4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26D6-7A42-CFAE-C77F-C7720DE2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&amp;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EF66-7869-5596-7B74-C2446E2EF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Outcomes:</a:t>
            </a:r>
          </a:p>
          <a:p>
            <a:pPr marL="457200" lvl="1" indent="0">
              <a:buNone/>
            </a:pPr>
            <a:r>
              <a:rPr lang="en-US" b="1" dirty="0"/>
              <a:t>1. Speed</a:t>
            </a:r>
            <a:endParaRPr lang="en-US" dirty="0"/>
          </a:p>
          <a:p>
            <a:pPr lvl="2"/>
            <a:r>
              <a:rPr lang="en-US" dirty="0"/>
              <a:t>Faster delivery cycles </a:t>
            </a:r>
          </a:p>
          <a:p>
            <a:pPr marL="457200" lvl="1" indent="0">
              <a:buNone/>
            </a:pPr>
            <a:r>
              <a:rPr lang="en-US" b="1" dirty="0"/>
              <a:t>2. Quality</a:t>
            </a:r>
            <a:endParaRPr lang="en-US" dirty="0"/>
          </a:p>
          <a:p>
            <a:pPr lvl="2"/>
            <a:r>
              <a:rPr lang="en-US" dirty="0"/>
              <a:t>Better testing and fewer defects </a:t>
            </a:r>
          </a:p>
          <a:p>
            <a:pPr marL="457200" lvl="1" indent="0">
              <a:buNone/>
            </a:pPr>
            <a:r>
              <a:rPr lang="en-US" b="1" dirty="0"/>
              <a:t>3. Productivity</a:t>
            </a:r>
            <a:endParaRPr lang="en-US" dirty="0"/>
          </a:p>
          <a:p>
            <a:pPr lvl="2"/>
            <a:r>
              <a:rPr lang="en-US" dirty="0"/>
              <a:t>Same team → higher output</a:t>
            </a:r>
          </a:p>
          <a:p>
            <a:endParaRPr lang="en-IN" b="1" dirty="0"/>
          </a:p>
          <a:p>
            <a:r>
              <a:rPr lang="en-IN" b="1" dirty="0"/>
              <a:t>Risks:</a:t>
            </a:r>
          </a:p>
          <a:p>
            <a:pPr lvl="1"/>
            <a:r>
              <a:rPr lang="en-US" dirty="0"/>
              <a:t>Over-reliance on AI outputs </a:t>
            </a:r>
          </a:p>
          <a:p>
            <a:pPr lvl="1"/>
            <a:r>
              <a:rPr lang="en-US" dirty="0"/>
              <a:t>Lack of governance </a:t>
            </a:r>
          </a:p>
          <a:p>
            <a:pPr lvl="1"/>
            <a:r>
              <a:rPr lang="en-US" dirty="0"/>
              <a:t>Skill gaps in teams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163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F836-4213-9A1D-2075-794D59FE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6738-7C97-6783-3CC4-F5EC8CD43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 current SDLC → Agentic SDLC for BU</a:t>
            </a:r>
          </a:p>
          <a:p>
            <a:r>
              <a:rPr lang="en-US" dirty="0"/>
              <a:t>Identify changes in roles and workflows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925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1007</Words>
  <Application>Microsoft Office PowerPoint</Application>
  <PresentationFormat>Widescreen</PresentationFormat>
  <Paragraphs>303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Neue Haas Grotesk Text Pro</vt:lpstr>
      <vt:lpstr>Office Theme</vt:lpstr>
      <vt:lpstr>1_Office Theme</vt:lpstr>
      <vt:lpstr>Agentic AI for Leaders</vt:lpstr>
      <vt:lpstr>Agentic AI &amp; ADLC</vt:lpstr>
      <vt:lpstr>Agentic Systems &amp; Workflows</vt:lpstr>
      <vt:lpstr>What are AI Agents?</vt:lpstr>
      <vt:lpstr>What are AI Agents?</vt:lpstr>
      <vt:lpstr>What are AI Agents?</vt:lpstr>
      <vt:lpstr>Agent Architecture: Planner–Executor Model</vt:lpstr>
      <vt:lpstr>Agent Architecture: Planner–Executor Model</vt:lpstr>
      <vt:lpstr>Multi-step Workflows and Tool Usage</vt:lpstr>
      <vt:lpstr>Multi-step Workflows and Tool Usage</vt:lpstr>
      <vt:lpstr>Enterprise Use Cases of Agentic Workflows</vt:lpstr>
      <vt:lpstr>Enterprise Use Cases of Agentic Workflows</vt:lpstr>
      <vt:lpstr>How to Tie This to ADLC</vt:lpstr>
      <vt:lpstr>Demo</vt:lpstr>
      <vt:lpstr>Agent-Driven Lifecycle (ADLC)</vt:lpstr>
      <vt:lpstr>SDLC → Agent-Driven Lifecycle (ADLC)</vt:lpstr>
      <vt:lpstr>SDLC → Agent-Driven Lifecycle (ADLC)</vt:lpstr>
      <vt:lpstr>AI in Planning, Development, Testing</vt:lpstr>
      <vt:lpstr>AI in Planning, Development, Testing</vt:lpstr>
      <vt:lpstr>AI in Planning, Development, Testing</vt:lpstr>
      <vt:lpstr>Role Evolution: Dev, QA, Architect, PM</vt:lpstr>
      <vt:lpstr>Role Evolution: Dev, QA, Architect, PM</vt:lpstr>
      <vt:lpstr>Role Evolution: Dev, QA, Architect, PM</vt:lpstr>
      <vt:lpstr>Outcomes &amp; Risks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43</cp:revision>
  <dcterms:created xsi:type="dcterms:W3CDTF">2026-04-01T13:32:53Z</dcterms:created>
  <dcterms:modified xsi:type="dcterms:W3CDTF">2026-04-02T14:07:55Z</dcterms:modified>
</cp:coreProperties>
</file>